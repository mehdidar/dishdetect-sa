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0058400" cy="4114800"/>
          </a:xfrm>
          <a:prstGeom prst="rect">
            <a:avLst/>
          </a:prstGeom>
          <a:noFill/>
        </p:spPr>
        <p:txBody>
          <a:bodyPr wrap="square">
            <a:spAutoFit/>
          </a:bodyPr>
          <a:lstStyle/>
          <a:p>
            <a:pPr>
              <a:defRPr sz="1100" b="1">
                <a:solidFill>
                  <a:srgbClr val="10B981"/>
                </a:solidFill>
                <a:latin typeface="Segoe UI"/>
              </a:defRPr>
            </a:pPr>
            <a:r>
              <a:t>ACADEMIC PROJECT REVIEW &amp; BENCHMARK REPORT  ·  MIDDLE EASTERN FOOD INTELLIGENCE</a:t>
            </a:r>
          </a:p>
          <a:p>
            <a:pPr>
              <a:spcBef>
                <a:spcPts val="1000"/>
              </a:spcBef>
              <a:defRPr sz="3200" b="1">
                <a:solidFill>
                  <a:srgbClr val="FFFFFF"/>
                </a:solidFill>
                <a:latin typeface="Segoe UI"/>
              </a:defRPr>
            </a:pPr>
            <a:r>
              <a:t>Vegan vs. Vegetarian Food Image Classification</a:t>
            </a:r>
          </a:p>
          <a:p>
            <a:pPr>
              <a:spcBef>
                <a:spcPts val="1200"/>
              </a:spcBef>
              <a:defRPr sz="1400">
                <a:solidFill>
                  <a:srgbClr val="CBD5E1"/>
                </a:solidFill>
                <a:latin typeface="Segoe UI"/>
              </a:defRPr>
            </a:pPr>
            <a:r>
              <a:t>Fine-Grained Visual Discrimination of Animal Byproducts in Meat-Free Cuisine:</a:t>
            </a:r>
            <a:br/>
            <a:r>
              <a:t>Dataset Benchmarking, Two-Stage YOLOv8-Seg + MobileNetV3 Pipeline, and the Ceilings of Visual AI</a:t>
            </a:r>
          </a:p>
          <a:p>
            <a:pPr>
              <a:spcBef>
                <a:spcPts val="2800"/>
              </a:spcBef>
              <a:defRPr sz="1100">
                <a:solidFill>
                  <a:srgbClr val="64748B"/>
                </a:solidFill>
                <a:latin typeface="Segoe UI"/>
              </a:defRPr>
            </a:pPr>
            <a:r>
              <a:t>DishDetect SA Research Team  ·  Supervised Deep Learning &amp; Computer Vision  ·  October 2026</a:t>
            </a:r>
          </a:p>
        </p:txBody>
      </p:sp>
      <p:sp>
        <p:nvSpPr>
          <p:cNvPr id="4" name="Rounded Rectangle 3"/>
          <p:cNvSpPr/>
          <p:nvPr/>
        </p:nvSpPr>
        <p:spPr>
          <a:xfrm>
            <a:off x="1097280" y="5120640"/>
            <a:ext cx="9875520" cy="109728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5257800"/>
            <a:ext cx="9326880" cy="822960"/>
          </a:xfrm>
          <a:prstGeom prst="rect">
            <a:avLst/>
          </a:prstGeom>
          <a:noFill/>
        </p:spPr>
        <p:txBody>
          <a:bodyPr wrap="square">
            <a:spAutoFit/>
          </a:bodyPr>
          <a:lstStyle/>
          <a:p>
            <a:pPr>
              <a:defRPr sz="1200" b="1">
                <a:solidFill>
                  <a:srgbClr val="10B981"/>
                </a:solidFill>
                <a:latin typeface="Segoe UI"/>
              </a:defRPr>
            </a:pPr>
            <a:r>
              <a:t>KEY HIGHLIGHT: 95.83% Real-World Arabic Restaurant Accuracy Achieved via YOLOv8 Polygon Segmentation</a:t>
            </a:r>
          </a:p>
          <a:p>
            <a:pPr>
              <a:defRPr sz="1000">
                <a:solidFill>
                  <a:srgbClr val="E2E8F0"/>
                </a:solidFill>
                <a:latin typeface="Segoe UI"/>
              </a:defRPr>
            </a:pPr>
            <a:r>
              <a:t>Excludes 100% of meat dishes to resolve the delicate Lacto-Ovo boundary (dairy cheese, eggs, clarified butter/samneh) vs 100% plant-based vegan meals.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E3A8A"/>
                </a:solidFill>
                <a:latin typeface="Segoe UI"/>
              </a:defRPr>
            </a:pPr>
            <a:r>
              <a:t>SECTION 01 · PROJECT OVERVIEW</a:t>
            </a:r>
          </a:p>
          <a:p>
            <a:pPr>
              <a:spcBef>
                <a:spcPts val="200"/>
              </a:spcBef>
              <a:defRPr sz="2200" b="1">
                <a:solidFill>
                  <a:srgbClr val="0F172A"/>
                </a:solidFill>
                <a:latin typeface="Segoe UI"/>
              </a:defRPr>
            </a:pPr>
            <a:r>
              <a:t>Project Objectives, Scope &amp; Culinary Motivation</a:t>
            </a:r>
          </a:p>
          <a:p>
            <a:pPr>
              <a:spcBef>
                <a:spcPts val="200"/>
              </a:spcBef>
              <a:defRPr sz="1100">
                <a:solidFill>
                  <a:srgbClr val="64748B"/>
                </a:solidFill>
                <a:latin typeface="Segoe UI"/>
              </a:defRPr>
            </a:pPr>
            <a:r>
              <a:t>Why separating Vegan from Vegetarian meals is fundamentally harder than general food recognition</a:t>
            </a:r>
          </a:p>
        </p:txBody>
      </p:sp>
      <p:sp>
        <p:nvSpPr>
          <p:cNvPr id="3" name="TextBox 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latin typeface="Segoe UI"/>
              </a:defRPr>
            </a:pPr>
            <a:r>
              <a:t>DishDetect SA  ·  Vegan vs. Vegetarian Deep Learning Research  ·  Slide 2 of 15</a:t>
            </a:r>
          </a:p>
        </p:txBody>
      </p:sp>
      <p:sp>
        <p:nvSpPr>
          <p:cNvPr id="4" name="Rounded Rectangle 3"/>
          <p:cNvSpPr/>
          <p:nvPr/>
        </p:nvSpPr>
        <p:spPr>
          <a:xfrm>
            <a:off x="731520"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62656" cy="4114800"/>
          </a:xfrm>
          <a:prstGeom prst="rect">
            <a:avLst/>
          </a:prstGeom>
          <a:noFill/>
        </p:spPr>
        <p:txBody>
          <a:bodyPr wrap="square">
            <a:spAutoFit/>
          </a:bodyPr>
          <a:lstStyle/>
          <a:p>
            <a:pPr>
              <a:defRPr b="1" sz="1300">
                <a:solidFill>
                  <a:srgbClr val="1E3A8A"/>
                </a:solidFill>
              </a:defRPr>
            </a:pPr>
            <a:r>
              <a:t>🎯 PRIMARY OBJECTIVE</a:t>
            </a:r>
          </a:p>
          <a:p>
            <a:pPr>
              <a:spcBef>
                <a:spcPts val="800"/>
              </a:spcBef>
              <a:defRPr sz="1050">
                <a:solidFill>
                  <a:srgbClr val="334155"/>
                </a:solidFill>
              </a:defRPr>
            </a:pPr>
            <a:r>
              <a:t>Develop a robust, low-latency computer vision classifier that reliably distinguishes between 100% Plant-Based (Vegan) and Dairy/Egg-Containing (Vegetarian) dishes in Middle Eastern &amp; Saudi gastronomy.</a:t>
            </a:r>
          </a:p>
          <a:p>
            <a:pPr>
              <a:spcBef>
                <a:spcPts val="1000"/>
              </a:spcBef>
              <a:defRPr sz="1050">
                <a:solidFill>
                  <a:srgbClr val="334155"/>
                </a:solidFill>
              </a:defRPr>
            </a:pPr>
            <a:r>
              <a:t>Commercial Application:</a:t>
            </a:r>
            <a:br/>
            <a:r>
              <a:t>• Real-time dietary compliance in food delivery apps.</a:t>
            </a:r>
            <a:br/>
            <a:r>
              <a:t>• Automated allergens &amp; lactose intolerance screening.</a:t>
            </a:r>
            <a:br/>
            <a:r>
              <a:t>• Smart POS &amp; restaurant menu verification.</a:t>
            </a:r>
          </a:p>
        </p:txBody>
      </p:sp>
      <p:sp>
        <p:nvSpPr>
          <p:cNvPr id="6" name="Rounded Rectangle 5"/>
          <p:cNvSpPr/>
          <p:nvPr/>
        </p:nvSpPr>
        <p:spPr>
          <a:xfrm>
            <a:off x="4425696"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828800"/>
            <a:ext cx="2962656" cy="4114800"/>
          </a:xfrm>
          <a:prstGeom prst="rect">
            <a:avLst/>
          </a:prstGeom>
          <a:noFill/>
        </p:spPr>
        <p:txBody>
          <a:bodyPr wrap="square">
            <a:spAutoFit/>
          </a:bodyPr>
          <a:lstStyle/>
          <a:p>
            <a:pPr>
              <a:defRPr b="1" sz="1300">
                <a:solidFill>
                  <a:srgbClr val="10B981"/>
                </a:solidFill>
              </a:defRPr>
            </a:pPr>
            <a:r>
              <a:t>🛡️ STRICT MEAT EXCLUSION SCOPE</a:t>
            </a:r>
          </a:p>
          <a:p>
            <a:pPr>
              <a:spcBef>
                <a:spcPts val="800"/>
              </a:spcBef>
              <a:defRPr sz="1050">
                <a:solidFill>
                  <a:srgbClr val="334155"/>
                </a:solidFill>
              </a:defRPr>
            </a:pPr>
            <a:r>
              <a:t>Standard 'Veg vs Non-Veg' models rely on trivial visual shortcuts: large cuts of grilled meat, bone structures, and chicken skewers make classification easy.</a:t>
            </a:r>
          </a:p>
          <a:p>
            <a:pPr>
              <a:spcBef>
                <a:spcPts val="1000"/>
              </a:spcBef>
              <a:defRPr sz="1050">
                <a:solidFill>
                  <a:srgbClr val="334155"/>
                </a:solidFill>
              </a:defRPr>
            </a:pPr>
            <a:r>
              <a:t>Our Paradigm:</a:t>
            </a:r>
            <a:br/>
            <a:r>
              <a:t>• All 10 meat, poultry, fish, and seafood categories are completely purged.</a:t>
            </a:r>
            <a:br/>
            <a:r>
              <a:t>• The model operates strictly inside the 15 meatless dishes.</a:t>
            </a:r>
            <a:br/>
            <a:r>
              <a:t>• Eliminates superficial meat cues and forces deep learning on subtle dairy/fat textures.</a:t>
            </a:r>
          </a:p>
        </p:txBody>
      </p:sp>
      <p:sp>
        <p:nvSpPr>
          <p:cNvPr id="8" name="Rounded Rectangle 7"/>
          <p:cNvSpPr/>
          <p:nvPr/>
        </p:nvSpPr>
        <p:spPr>
          <a:xfrm>
            <a:off x="8119872"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28800"/>
            <a:ext cx="2962656" cy="4114800"/>
          </a:xfrm>
          <a:prstGeom prst="rect">
            <a:avLst/>
          </a:prstGeom>
          <a:noFill/>
        </p:spPr>
        <p:txBody>
          <a:bodyPr wrap="square">
            <a:spAutoFit/>
          </a:bodyPr>
          <a:lstStyle/>
          <a:p>
            <a:pPr>
              <a:defRPr b="1" sz="1300">
                <a:solidFill>
                  <a:srgbClr val="D97706"/>
                </a:solidFill>
              </a:defRPr>
            </a:pPr>
            <a:r>
              <a:t>⚠️ THE INVISIBLE INGREDIENT PROBLEM</a:t>
            </a:r>
          </a:p>
          <a:p>
            <a:pPr>
              <a:spcBef>
                <a:spcPts val="800"/>
              </a:spcBef>
              <a:defRPr sz="1050">
                <a:solidFill>
                  <a:srgbClr val="334155"/>
                </a:solidFill>
              </a:defRPr>
            </a:pPr>
            <a:r>
              <a:t>Unlike meat, animal byproducts in Middle Eastern cuisine are frequently invisible, dissolved, or concealed:</a:t>
            </a:r>
          </a:p>
          <a:p>
            <a:pPr>
              <a:spcBef>
                <a:spcPts val="800"/>
              </a:spcBef>
              <a:defRPr sz="1000">
                <a:solidFill>
                  <a:srgbClr val="334155"/>
                </a:solidFill>
              </a:defRPr>
            </a:pPr>
            <a:r>
              <a:t>• Clarified Butter (Samneh/Ghee) melted into Tamriya.</a:t>
            </a:r>
            <a:br/>
            <a:r>
              <a:t>• Condensed Milk &amp; Eggs absorbed inside Saffron Cake crumb.</a:t>
            </a:r>
            <a:br/>
            <a:r>
              <a:t>• Cow's Milk &amp; Ashta cream emulsified in Rice Pudding.</a:t>
            </a:r>
            <a:br/>
            <a:r>
              <a:t>• Melted Akkawi Cheese hidden inside baked Fatayer crust.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E3A8A"/>
                </a:solidFill>
                <a:latin typeface="Segoe UI"/>
              </a:defRPr>
            </a:pPr>
            <a:r>
              <a:t>SECTION 02 · DATASET OVERVIEW</a:t>
            </a:r>
          </a:p>
          <a:p>
            <a:pPr>
              <a:spcBef>
                <a:spcPts val="200"/>
              </a:spcBef>
              <a:defRPr sz="2200" b="1">
                <a:solidFill>
                  <a:srgbClr val="0F172A"/>
                </a:solidFill>
                <a:latin typeface="Segoe UI"/>
              </a:defRPr>
            </a:pPr>
            <a:r>
              <a:t>Dataset Composition: 704 Meatless Arabic Food Images</a:t>
            </a:r>
          </a:p>
          <a:p>
            <a:pPr>
              <a:spcBef>
                <a:spcPts val="200"/>
              </a:spcBef>
              <a:defRPr sz="1100">
                <a:solidFill>
                  <a:srgbClr val="64748B"/>
                </a:solidFill>
                <a:latin typeface="Segoe UI"/>
              </a:defRPr>
            </a:pPr>
            <a:r>
              <a:t>Rigorous breakdown of the 15 meat-free culinary categories and distribution metrics</a:t>
            </a:r>
          </a:p>
        </p:txBody>
      </p:sp>
      <p:sp>
        <p:nvSpPr>
          <p:cNvPr id="3" name="TextBox 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latin typeface="Segoe UI"/>
              </a:defRPr>
            </a:pPr>
            <a:r>
              <a:t>DishDetect SA  ·  Vegan vs. Vegetarian Deep Learning Research  ·  Slide 3 of 15</a:t>
            </a:r>
          </a:p>
        </p:txBody>
      </p:sp>
      <p:sp>
        <p:nvSpPr>
          <p:cNvPr id="4" name="Rounded Rectangle 3"/>
          <p:cNvSpPr/>
          <p:nvPr/>
        </p:nvSpPr>
        <p:spPr>
          <a:xfrm>
            <a:off x="731520" y="1554480"/>
            <a:ext cx="2468880" cy="1005840"/>
          </a:xfrm>
          <a:prstGeom prst="roundRect">
            <a:avLst/>
          </a:prstGeom>
          <a:solidFill>
            <a:srgbClr val="EFF6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64208"/>
            <a:ext cx="2194560" cy="786384"/>
          </a:xfrm>
          <a:prstGeom prst="rect">
            <a:avLst/>
          </a:prstGeom>
          <a:noFill/>
        </p:spPr>
        <p:txBody>
          <a:bodyPr wrap="square" lIns="0" tIns="0" rIns="0" bIns="0">
            <a:spAutoFit/>
          </a:bodyPr>
          <a:lstStyle/>
          <a:p>
            <a:pPr>
              <a:defRPr sz="2200" b="1">
                <a:solidFill>
                  <a:srgbClr val="1E3A8A"/>
                </a:solidFill>
                <a:latin typeface="Segoe UI"/>
              </a:defRPr>
            </a:pPr>
            <a:r>
              <a:t>704</a:t>
            </a:r>
          </a:p>
          <a:p>
            <a:pPr>
              <a:defRPr sz="1100" b="1">
                <a:solidFill>
                  <a:srgbClr val="0F172A"/>
                </a:solidFill>
                <a:latin typeface="Segoe UI"/>
              </a:defRPr>
            </a:pPr>
            <a:r>
              <a:t>Total Images</a:t>
            </a:r>
          </a:p>
          <a:p>
            <a:pPr>
              <a:defRPr sz="950">
                <a:solidFill>
                  <a:srgbClr val="64748B"/>
                </a:solidFill>
                <a:latin typeface="Segoe UI"/>
              </a:defRPr>
            </a:pPr>
            <a:r>
              <a:t>Across 15 authentic dishes</a:t>
            </a:r>
          </a:p>
        </p:txBody>
      </p:sp>
      <p:sp>
        <p:nvSpPr>
          <p:cNvPr id="6" name="Rounded Rectangle 5"/>
          <p:cNvSpPr/>
          <p:nvPr/>
        </p:nvSpPr>
        <p:spPr>
          <a:xfrm>
            <a:off x="3474720" y="1554480"/>
            <a:ext cx="2468880" cy="100584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664208"/>
            <a:ext cx="2194560" cy="786384"/>
          </a:xfrm>
          <a:prstGeom prst="rect">
            <a:avLst/>
          </a:prstGeom>
          <a:noFill/>
        </p:spPr>
        <p:txBody>
          <a:bodyPr wrap="square" lIns="0" tIns="0" rIns="0" bIns="0">
            <a:spAutoFit/>
          </a:bodyPr>
          <a:lstStyle/>
          <a:p>
            <a:pPr>
              <a:defRPr sz="2200" b="1">
                <a:solidFill>
                  <a:srgbClr val="10B981"/>
                </a:solidFill>
                <a:latin typeface="Segoe UI"/>
              </a:defRPr>
            </a:pPr>
            <a:r>
              <a:t>411 (58.4%)</a:t>
            </a:r>
          </a:p>
          <a:p>
            <a:pPr>
              <a:defRPr sz="1100" b="1">
                <a:solidFill>
                  <a:srgbClr val="0F172A"/>
                </a:solidFill>
                <a:latin typeface="Segoe UI"/>
              </a:defRPr>
            </a:pPr>
            <a:r>
              <a:t>Vegan Images</a:t>
            </a:r>
          </a:p>
          <a:p>
            <a:pPr>
              <a:defRPr sz="950">
                <a:solidFill>
                  <a:srgbClr val="64748B"/>
                </a:solidFill>
                <a:latin typeface="Segoe UI"/>
              </a:defRPr>
            </a:pPr>
            <a:r>
              <a:t>9 Plant-based categories</a:t>
            </a:r>
          </a:p>
        </p:txBody>
      </p:sp>
      <p:sp>
        <p:nvSpPr>
          <p:cNvPr id="8" name="Rounded Rectangle 7"/>
          <p:cNvSpPr/>
          <p:nvPr/>
        </p:nvSpPr>
        <p:spPr>
          <a:xfrm>
            <a:off x="6217920" y="1554480"/>
            <a:ext cx="2468880" cy="100584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64208"/>
            <a:ext cx="2194560" cy="786384"/>
          </a:xfrm>
          <a:prstGeom prst="rect">
            <a:avLst/>
          </a:prstGeom>
          <a:noFill/>
        </p:spPr>
        <p:txBody>
          <a:bodyPr wrap="square" lIns="0" tIns="0" rIns="0" bIns="0">
            <a:spAutoFit/>
          </a:bodyPr>
          <a:lstStyle/>
          <a:p>
            <a:pPr>
              <a:defRPr sz="2200" b="1">
                <a:solidFill>
                  <a:srgbClr val="D97706"/>
                </a:solidFill>
                <a:latin typeface="Segoe UI"/>
              </a:defRPr>
            </a:pPr>
            <a:r>
              <a:t>293 (41.6%)</a:t>
            </a:r>
          </a:p>
          <a:p>
            <a:pPr>
              <a:defRPr sz="1100" b="1">
                <a:solidFill>
                  <a:srgbClr val="0F172A"/>
                </a:solidFill>
                <a:latin typeface="Segoe UI"/>
              </a:defRPr>
            </a:pPr>
            <a:r>
              <a:t>Vegetarian Images</a:t>
            </a:r>
          </a:p>
          <a:p>
            <a:pPr>
              <a:defRPr sz="950">
                <a:solidFill>
                  <a:srgbClr val="64748B"/>
                </a:solidFill>
                <a:latin typeface="Segoe UI"/>
              </a:defRPr>
            </a:pPr>
            <a:r>
              <a:t>6 Dairy/Egg/Ghee categories</a:t>
            </a:r>
          </a:p>
        </p:txBody>
      </p:sp>
      <p:sp>
        <p:nvSpPr>
          <p:cNvPr id="10" name="Rounded Rectangle 9"/>
          <p:cNvSpPr/>
          <p:nvPr/>
        </p:nvSpPr>
        <p:spPr>
          <a:xfrm>
            <a:off x="8961120" y="1554480"/>
            <a:ext cx="2468880" cy="1005840"/>
          </a:xfrm>
          <a:prstGeom prst="roundRect">
            <a:avLst/>
          </a:prstGeom>
          <a:solidFill>
            <a:srgbClr val="EFF6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664208"/>
            <a:ext cx="2194560" cy="786384"/>
          </a:xfrm>
          <a:prstGeom prst="rect">
            <a:avLst/>
          </a:prstGeom>
          <a:noFill/>
        </p:spPr>
        <p:txBody>
          <a:bodyPr wrap="square" lIns="0" tIns="0" rIns="0" bIns="0">
            <a:spAutoFit/>
          </a:bodyPr>
          <a:lstStyle/>
          <a:p>
            <a:pPr>
              <a:defRPr sz="2200" b="1">
                <a:solidFill>
                  <a:srgbClr val="1E3A8A"/>
                </a:solidFill>
                <a:latin typeface="Segoe UI"/>
              </a:defRPr>
            </a:pPr>
            <a:r>
              <a:t>1.40 : 1</a:t>
            </a:r>
          </a:p>
          <a:p>
            <a:pPr>
              <a:defRPr sz="1100" b="1">
                <a:solidFill>
                  <a:srgbClr val="0F172A"/>
                </a:solidFill>
                <a:latin typeface="Segoe UI"/>
              </a:defRPr>
            </a:pPr>
            <a:r>
              <a:t>Balanced Class Ratio</a:t>
            </a:r>
          </a:p>
          <a:p>
            <a:pPr>
              <a:defRPr sz="950">
                <a:solidFill>
                  <a:srgbClr val="64748B"/>
                </a:solidFill>
                <a:latin typeface="Segoe UI"/>
              </a:defRPr>
            </a:pPr>
            <a:r>
              <a:t>No artificial oversampling</a:t>
            </a:r>
          </a:p>
        </p:txBody>
      </p:sp>
      <p:graphicFrame>
        <p:nvGraphicFramePr>
          <p:cNvPr id="12" name="Table 11"/>
          <p:cNvGraphicFramePr>
            <a:graphicFrameLocks noGrp="1"/>
          </p:cNvGraphicFramePr>
          <p:nvPr/>
        </p:nvGraphicFramePr>
        <p:xfrm>
          <a:off x="731520" y="2743200"/>
          <a:ext cx="10698480" cy="3474720"/>
        </p:xfrm>
        <a:graphic>
          <a:graphicData uri="http://schemas.openxmlformats.org/drawingml/2006/table">
            <a:tbl>
              <a:tblPr firstRow="1" bandRow="1">
                <a:tableStyleId>{5C22544A-7EE6-4342-B048-85BDC9FD1C3A}</a:tableStyleId>
              </a:tblPr>
              <a:tblGrid>
                <a:gridCol w="1645920"/>
                <a:gridCol w="1005840"/>
                <a:gridCol w="731520"/>
                <a:gridCol w="822960"/>
                <a:gridCol w="6492240"/>
              </a:tblGrid>
              <a:tr h="217170">
                <a:tc>
                  <a:txBody>
                    <a:bodyPr wrap="square"/>
                    <a:lstStyle/>
                    <a:p>
                      <a:pPr algn="ctr">
                        <a:defRPr sz="1000" b="1">
                          <a:solidFill>
                            <a:srgbClr val="FFFFFF"/>
                          </a:solidFill>
                          <a:latin typeface="Segoe UI"/>
                        </a:defRPr>
                      </a:pPr>
                      <a:r>
                        <a:t>Dish Name</a:t>
                      </a:r>
                    </a:p>
                  </a:txBody>
                  <a:tcPr>
                    <a:solidFill>
                      <a:srgbClr val="1E3A8A"/>
                    </a:solidFill>
                  </a:tcPr>
                </a:tc>
                <a:tc>
                  <a:txBody>
                    <a:bodyPr wrap="square"/>
                    <a:lstStyle/>
                    <a:p>
                      <a:pPr algn="ctr">
                        <a:defRPr sz="1000" b="1">
                          <a:solidFill>
                            <a:srgbClr val="FFFFFF"/>
                          </a:solidFill>
                          <a:latin typeface="Segoe UI"/>
                        </a:defRPr>
                      </a:pPr>
                      <a:r>
                        <a:t>Category</a:t>
                      </a:r>
                    </a:p>
                  </a:txBody>
                  <a:tcPr>
                    <a:solidFill>
                      <a:srgbClr val="1E3A8A"/>
                    </a:solidFill>
                  </a:tcPr>
                </a:tc>
                <a:tc>
                  <a:txBody>
                    <a:bodyPr wrap="square"/>
                    <a:lstStyle/>
                    <a:p>
                      <a:pPr algn="ctr">
                        <a:defRPr sz="1000" b="1">
                          <a:solidFill>
                            <a:srgbClr val="FFFFFF"/>
                          </a:solidFill>
                          <a:latin typeface="Segoe UI"/>
                        </a:defRPr>
                      </a:pPr>
                      <a:r>
                        <a:t>Count</a:t>
                      </a:r>
                    </a:p>
                  </a:txBody>
                  <a:tcPr>
                    <a:solidFill>
                      <a:srgbClr val="1E3A8A"/>
                    </a:solidFill>
                  </a:tcPr>
                </a:tc>
                <a:tc>
                  <a:txBody>
                    <a:bodyPr wrap="square"/>
                    <a:lstStyle/>
                    <a:p>
                      <a:pPr algn="ctr">
                        <a:defRPr sz="1000" b="1">
                          <a:solidFill>
                            <a:srgbClr val="FFFFFF"/>
                          </a:solidFill>
                          <a:latin typeface="Segoe UI"/>
                        </a:defRPr>
                      </a:pPr>
                      <a:r>
                        <a:t>% Share</a:t>
                      </a:r>
                    </a:p>
                  </a:txBody>
                  <a:tcPr>
                    <a:solidFill>
                      <a:srgbClr val="1E3A8A"/>
                    </a:solidFill>
                  </a:tcPr>
                </a:tc>
                <a:tc>
                  <a:txBody>
                    <a:bodyPr wrap="square"/>
                    <a:lstStyle/>
                    <a:p>
                      <a:pPr algn="ctr">
                        <a:defRPr sz="1000" b="1">
                          <a:solidFill>
                            <a:srgbClr val="FFFFFF"/>
                          </a:solidFill>
                          <a:latin typeface="Segoe UI"/>
                        </a:defRPr>
                      </a:pPr>
                      <a:r>
                        <a:t>Key Ingredients &amp; Audited Culinary Profile</a:t>
                      </a:r>
                    </a:p>
                  </a:txBody>
                  <a:tcPr>
                    <a:solidFill>
                      <a:srgbClr val="1E3A8A"/>
                    </a:solidFill>
                  </a:tcPr>
                </a:tc>
              </a:tr>
              <a:tr h="217170">
                <a:tc>
                  <a:txBody>
                    <a:bodyPr wrap="square"/>
                    <a:lstStyle/>
                    <a:p>
                      <a:pPr algn="l">
                        <a:defRPr sz="950" b="1">
                          <a:solidFill>
                            <a:srgbClr val="0F172A"/>
                          </a:solidFill>
                          <a:latin typeface="Segoe UI"/>
                        </a:defRPr>
                      </a:pPr>
                      <a:r>
                        <a:t>Hummus</a:t>
                      </a:r>
                    </a:p>
                  </a:txBody>
                  <a:tcPr>
                    <a:solidFill>
                      <a:srgbClr val="FFFFFF"/>
                    </a:solidFill>
                  </a:tcPr>
                </a:tc>
                <a:tc>
                  <a:txBody>
                    <a:bodyPr wrap="square"/>
                    <a:lstStyle/>
                    <a:p>
                      <a:pPr algn="ctr">
                        <a:defRPr sz="950">
                          <a:solidFill>
                            <a:srgbClr val="334155"/>
                          </a:solidFill>
                          <a:latin typeface="Segoe UI"/>
                        </a:defRPr>
                      </a:pPr>
                      <a:r>
                        <a:t>Vegan</a:t>
                      </a:r>
                    </a:p>
                  </a:txBody>
                  <a:tcPr>
                    <a:solidFill>
                      <a:srgbClr val="FFFFFF"/>
                    </a:solidFill>
                  </a:tcPr>
                </a:tc>
                <a:tc>
                  <a:txBody>
                    <a:bodyPr wrap="square"/>
                    <a:lstStyle/>
                    <a:p>
                      <a:pPr algn="ctr">
                        <a:defRPr sz="950">
                          <a:solidFill>
                            <a:srgbClr val="334155"/>
                          </a:solidFill>
                          <a:latin typeface="Segoe UI"/>
                        </a:defRPr>
                      </a:pPr>
                      <a:r>
                        <a:t>61</a:t>
                      </a:r>
                    </a:p>
                  </a:txBody>
                  <a:tcPr>
                    <a:solidFill>
                      <a:srgbClr val="FFFFFF"/>
                    </a:solidFill>
                  </a:tcPr>
                </a:tc>
                <a:tc>
                  <a:txBody>
                    <a:bodyPr wrap="square"/>
                    <a:lstStyle/>
                    <a:p>
                      <a:pPr algn="ctr">
                        <a:defRPr sz="950">
                          <a:solidFill>
                            <a:srgbClr val="334155"/>
                          </a:solidFill>
                          <a:latin typeface="Segoe UI"/>
                        </a:defRPr>
                      </a:pPr>
                      <a:r>
                        <a:t>8.7%</a:t>
                      </a:r>
                    </a:p>
                  </a:txBody>
                  <a:tcPr>
                    <a:solidFill>
                      <a:srgbClr val="FFFFFF"/>
                    </a:solidFill>
                  </a:tcPr>
                </a:tc>
                <a:tc>
                  <a:txBody>
                    <a:bodyPr wrap="square"/>
                    <a:lstStyle/>
                    <a:p>
                      <a:pPr algn="l">
                        <a:defRPr sz="950">
                          <a:solidFill>
                            <a:srgbClr val="334155"/>
                          </a:solidFill>
                          <a:latin typeface="Segoe UI"/>
                        </a:defRPr>
                      </a:pPr>
                      <a:r>
                        <a:t>Chickpeas, tahini (sesame), olive oil, lemon, garlic (100% plant-based)</a:t>
                      </a:r>
                    </a:p>
                  </a:txBody>
                  <a:tcPr>
                    <a:solidFill>
                      <a:srgbClr val="FFFFFF"/>
                    </a:solidFill>
                  </a:tcPr>
                </a:tc>
              </a:tr>
              <a:tr h="217170">
                <a:tc>
                  <a:txBody>
                    <a:bodyPr wrap="square"/>
                    <a:lstStyle/>
                    <a:p>
                      <a:pPr algn="l">
                        <a:defRPr sz="950" b="1">
                          <a:solidFill>
                            <a:srgbClr val="0F172A"/>
                          </a:solidFill>
                          <a:latin typeface="Segoe UI"/>
                        </a:defRPr>
                      </a:pPr>
                      <a:r>
                        <a:t>Tamees Bread</a:t>
                      </a:r>
                    </a:p>
                  </a:txBody>
                  <a:tcPr>
                    <a:solidFill>
                      <a:srgbClr val="F8FAFC"/>
                    </a:solidFill>
                  </a:tcPr>
                </a:tc>
                <a:tc>
                  <a:txBody>
                    <a:bodyPr wrap="square"/>
                    <a:lstStyle/>
                    <a:p>
                      <a:pPr algn="ctr">
                        <a:defRPr sz="950">
                          <a:solidFill>
                            <a:srgbClr val="334155"/>
                          </a:solidFill>
                          <a:latin typeface="Segoe UI"/>
                        </a:defRPr>
                      </a:pPr>
                      <a:r>
                        <a:t>Vegan</a:t>
                      </a:r>
                    </a:p>
                  </a:txBody>
                  <a:tcPr>
                    <a:solidFill>
                      <a:srgbClr val="F8FAFC"/>
                    </a:solidFill>
                  </a:tcPr>
                </a:tc>
                <a:tc>
                  <a:txBody>
                    <a:bodyPr wrap="square"/>
                    <a:lstStyle/>
                    <a:p>
                      <a:pPr algn="ctr">
                        <a:defRPr sz="950">
                          <a:solidFill>
                            <a:srgbClr val="334155"/>
                          </a:solidFill>
                          <a:latin typeface="Segoe UI"/>
                        </a:defRPr>
                      </a:pPr>
                      <a:r>
                        <a:t>53</a:t>
                      </a:r>
                    </a:p>
                  </a:txBody>
                  <a:tcPr>
                    <a:solidFill>
                      <a:srgbClr val="F8FAFC"/>
                    </a:solidFill>
                  </a:tcPr>
                </a:tc>
                <a:tc>
                  <a:txBody>
                    <a:bodyPr wrap="square"/>
                    <a:lstStyle/>
                    <a:p>
                      <a:pPr algn="ctr">
                        <a:defRPr sz="950">
                          <a:solidFill>
                            <a:srgbClr val="334155"/>
                          </a:solidFill>
                          <a:latin typeface="Segoe UI"/>
                        </a:defRPr>
                      </a:pPr>
                      <a:r>
                        <a:t>7.5%</a:t>
                      </a:r>
                    </a:p>
                  </a:txBody>
                  <a:tcPr>
                    <a:solidFill>
                      <a:srgbClr val="F8FAFC"/>
                    </a:solidFill>
                  </a:tcPr>
                </a:tc>
                <a:tc>
                  <a:txBody>
                    <a:bodyPr wrap="square"/>
                    <a:lstStyle/>
                    <a:p>
                      <a:pPr algn="l">
                        <a:defRPr sz="950">
                          <a:solidFill>
                            <a:srgbClr val="334155"/>
                          </a:solidFill>
                          <a:latin typeface="Segoe UI"/>
                        </a:defRPr>
                      </a:pPr>
                      <a:r>
                        <a:t>Saudi tandoor flatbread: flour, water, yeast, vegetable oil (zero dairy)</a:t>
                      </a:r>
                    </a:p>
                  </a:txBody>
                  <a:tcPr>
                    <a:solidFill>
                      <a:srgbClr val="F8FAFC"/>
                    </a:solidFill>
                  </a:tcPr>
                </a:tc>
              </a:tr>
              <a:tr h="217170">
                <a:tc>
                  <a:txBody>
                    <a:bodyPr wrap="square"/>
                    <a:lstStyle/>
                    <a:p>
                      <a:pPr algn="l">
                        <a:defRPr sz="950" b="1">
                          <a:solidFill>
                            <a:srgbClr val="0F172A"/>
                          </a:solidFill>
                          <a:latin typeface="Segoe UI"/>
                        </a:defRPr>
                      </a:pPr>
                      <a:r>
                        <a:t>Za’atar Manakish</a:t>
                      </a:r>
                    </a:p>
                  </a:txBody>
                  <a:tcPr>
                    <a:solidFill>
                      <a:srgbClr val="FFFFFF"/>
                    </a:solidFill>
                  </a:tcPr>
                </a:tc>
                <a:tc>
                  <a:txBody>
                    <a:bodyPr wrap="square"/>
                    <a:lstStyle/>
                    <a:p>
                      <a:pPr algn="ctr">
                        <a:defRPr sz="950">
                          <a:solidFill>
                            <a:srgbClr val="334155"/>
                          </a:solidFill>
                          <a:latin typeface="Segoe UI"/>
                        </a:defRPr>
                      </a:pPr>
                      <a:r>
                        <a:t>Vegan</a:t>
                      </a:r>
                    </a:p>
                  </a:txBody>
                  <a:tcPr>
                    <a:solidFill>
                      <a:srgbClr val="FFFFFF"/>
                    </a:solidFill>
                  </a:tcPr>
                </a:tc>
                <a:tc>
                  <a:txBody>
                    <a:bodyPr wrap="square"/>
                    <a:lstStyle/>
                    <a:p>
                      <a:pPr algn="ctr">
                        <a:defRPr sz="950">
                          <a:solidFill>
                            <a:srgbClr val="334155"/>
                          </a:solidFill>
                          <a:latin typeface="Segoe UI"/>
                        </a:defRPr>
                      </a:pPr>
                      <a:r>
                        <a:t>52</a:t>
                      </a:r>
                    </a:p>
                  </a:txBody>
                  <a:tcPr>
                    <a:solidFill>
                      <a:srgbClr val="FFFFFF"/>
                    </a:solidFill>
                  </a:tcPr>
                </a:tc>
                <a:tc>
                  <a:txBody>
                    <a:bodyPr wrap="square"/>
                    <a:lstStyle/>
                    <a:p>
                      <a:pPr algn="ctr">
                        <a:defRPr sz="950">
                          <a:solidFill>
                            <a:srgbClr val="334155"/>
                          </a:solidFill>
                          <a:latin typeface="Segoe UI"/>
                        </a:defRPr>
                      </a:pPr>
                      <a:r>
                        <a:t>7.4%</a:t>
                      </a:r>
                    </a:p>
                  </a:txBody>
                  <a:tcPr>
                    <a:solidFill>
                      <a:srgbClr val="FFFFFF"/>
                    </a:solidFill>
                  </a:tcPr>
                </a:tc>
                <a:tc>
                  <a:txBody>
                    <a:bodyPr wrap="square"/>
                    <a:lstStyle/>
                    <a:p>
                      <a:pPr algn="l">
                        <a:defRPr sz="950">
                          <a:solidFill>
                            <a:srgbClr val="334155"/>
                          </a:solidFill>
                          <a:latin typeface="Segoe UI"/>
                        </a:defRPr>
                      </a:pPr>
                      <a:r>
                        <a:t>Levantine dough topped with wild thyme, sumac, toasted sesame, olive oil</a:t>
                      </a:r>
                    </a:p>
                  </a:txBody>
                  <a:tcPr>
                    <a:solidFill>
                      <a:srgbClr val="FFFFFF"/>
                    </a:solidFill>
                  </a:tcPr>
                </a:tc>
              </a:tr>
              <a:tr h="217170">
                <a:tc>
                  <a:txBody>
                    <a:bodyPr wrap="square"/>
                    <a:lstStyle/>
                    <a:p>
                      <a:pPr algn="l">
                        <a:defRPr sz="950" b="1">
                          <a:solidFill>
                            <a:srgbClr val="0F172A"/>
                          </a:solidFill>
                          <a:latin typeface="Segoe UI"/>
                        </a:defRPr>
                      </a:pPr>
                      <a:r>
                        <a:t>Okra Tagine</a:t>
                      </a:r>
                    </a:p>
                  </a:txBody>
                  <a:tcPr>
                    <a:solidFill>
                      <a:srgbClr val="F8FAFC"/>
                    </a:solidFill>
                  </a:tcPr>
                </a:tc>
                <a:tc>
                  <a:txBody>
                    <a:bodyPr wrap="square"/>
                    <a:lstStyle/>
                    <a:p>
                      <a:pPr algn="ctr">
                        <a:defRPr sz="950">
                          <a:solidFill>
                            <a:srgbClr val="334155"/>
                          </a:solidFill>
                          <a:latin typeface="Segoe UI"/>
                        </a:defRPr>
                      </a:pPr>
                      <a:r>
                        <a:t>Vegan</a:t>
                      </a:r>
                    </a:p>
                  </a:txBody>
                  <a:tcPr>
                    <a:solidFill>
                      <a:srgbClr val="F8FAFC"/>
                    </a:solidFill>
                  </a:tcPr>
                </a:tc>
                <a:tc>
                  <a:txBody>
                    <a:bodyPr wrap="square"/>
                    <a:lstStyle/>
                    <a:p>
                      <a:pPr algn="ctr">
                        <a:defRPr sz="950">
                          <a:solidFill>
                            <a:srgbClr val="334155"/>
                          </a:solidFill>
                          <a:latin typeface="Segoe UI"/>
                        </a:defRPr>
                      </a:pPr>
                      <a:r>
                        <a:t>45</a:t>
                      </a:r>
                    </a:p>
                  </a:txBody>
                  <a:tcPr>
                    <a:solidFill>
                      <a:srgbClr val="F8FAFC"/>
                    </a:solidFill>
                  </a:tcPr>
                </a:tc>
                <a:tc>
                  <a:txBody>
                    <a:bodyPr wrap="square"/>
                    <a:lstStyle/>
                    <a:p>
                      <a:pPr algn="ctr">
                        <a:defRPr sz="950">
                          <a:solidFill>
                            <a:srgbClr val="334155"/>
                          </a:solidFill>
                          <a:latin typeface="Segoe UI"/>
                        </a:defRPr>
                      </a:pPr>
                      <a:r>
                        <a:t>6.4%</a:t>
                      </a:r>
                    </a:p>
                  </a:txBody>
                  <a:tcPr>
                    <a:solidFill>
                      <a:srgbClr val="F8FAFC"/>
                    </a:solidFill>
                  </a:tcPr>
                </a:tc>
                <a:tc>
                  <a:txBody>
                    <a:bodyPr wrap="square"/>
                    <a:lstStyle/>
                    <a:p>
                      <a:pPr algn="l">
                        <a:defRPr sz="950">
                          <a:solidFill>
                            <a:srgbClr val="334155"/>
                          </a:solidFill>
                          <a:latin typeface="Segoe UI"/>
                        </a:defRPr>
                      </a:pPr>
                      <a:r>
                        <a:t>Bamya bil-Zayt: baby okra pods simmered in tomato gravy &amp; coriander</a:t>
                      </a:r>
                    </a:p>
                  </a:txBody>
                  <a:tcPr>
                    <a:solidFill>
                      <a:srgbClr val="F8FAFC"/>
                    </a:solidFill>
                  </a:tcPr>
                </a:tc>
              </a:tr>
              <a:tr h="217170">
                <a:tc>
                  <a:txBody>
                    <a:bodyPr wrap="square"/>
                    <a:lstStyle/>
                    <a:p>
                      <a:pPr algn="l">
                        <a:defRPr sz="950" b="1">
                          <a:solidFill>
                            <a:srgbClr val="0F172A"/>
                          </a:solidFill>
                          <a:latin typeface="Segoe UI"/>
                        </a:defRPr>
                      </a:pPr>
                      <a:r>
                        <a:t>Sesame Brittle</a:t>
                      </a:r>
                    </a:p>
                  </a:txBody>
                  <a:tcPr>
                    <a:solidFill>
                      <a:srgbClr val="FFFFFF"/>
                    </a:solidFill>
                  </a:tcPr>
                </a:tc>
                <a:tc>
                  <a:txBody>
                    <a:bodyPr wrap="square"/>
                    <a:lstStyle/>
                    <a:p>
                      <a:pPr algn="ctr">
                        <a:defRPr sz="950">
                          <a:solidFill>
                            <a:srgbClr val="334155"/>
                          </a:solidFill>
                          <a:latin typeface="Segoe UI"/>
                        </a:defRPr>
                      </a:pPr>
                      <a:r>
                        <a:t>Vegan</a:t>
                      </a:r>
                    </a:p>
                  </a:txBody>
                  <a:tcPr>
                    <a:solidFill>
                      <a:srgbClr val="FFFFFF"/>
                    </a:solidFill>
                  </a:tcPr>
                </a:tc>
                <a:tc>
                  <a:txBody>
                    <a:bodyPr wrap="square"/>
                    <a:lstStyle/>
                    <a:p>
                      <a:pPr algn="ctr">
                        <a:defRPr sz="950">
                          <a:solidFill>
                            <a:srgbClr val="334155"/>
                          </a:solidFill>
                          <a:latin typeface="Segoe UI"/>
                        </a:defRPr>
                      </a:pPr>
                      <a:r>
                        <a:t>45</a:t>
                      </a:r>
                    </a:p>
                  </a:txBody>
                  <a:tcPr>
                    <a:solidFill>
                      <a:srgbClr val="FFFFFF"/>
                    </a:solidFill>
                  </a:tcPr>
                </a:tc>
                <a:tc>
                  <a:txBody>
                    <a:bodyPr wrap="square"/>
                    <a:lstStyle/>
                    <a:p>
                      <a:pPr algn="ctr">
                        <a:defRPr sz="950">
                          <a:solidFill>
                            <a:srgbClr val="334155"/>
                          </a:solidFill>
                          <a:latin typeface="Segoe UI"/>
                        </a:defRPr>
                      </a:pPr>
                      <a:r>
                        <a:t>6.4%</a:t>
                      </a:r>
                    </a:p>
                  </a:txBody>
                  <a:tcPr>
                    <a:solidFill>
                      <a:srgbClr val="FFFFFF"/>
                    </a:solidFill>
                  </a:tcPr>
                </a:tc>
                <a:tc>
                  <a:txBody>
                    <a:bodyPr wrap="square"/>
                    <a:lstStyle/>
                    <a:p>
                      <a:pPr algn="l">
                        <a:defRPr sz="950">
                          <a:solidFill>
                            <a:srgbClr val="334155"/>
                          </a:solidFill>
                          <a:latin typeface="Segoe UI"/>
                        </a:defRPr>
                      </a:pPr>
                      <a:r>
                        <a:t>Simsimiya: roasted sesame seeds bound with hot sugar/glucose syrup</a:t>
                      </a:r>
                    </a:p>
                  </a:txBody>
                  <a:tcPr>
                    <a:solidFill>
                      <a:srgbClr val="FFFFFF"/>
                    </a:solidFill>
                  </a:tcPr>
                </a:tc>
              </a:tr>
              <a:tr h="217170">
                <a:tc>
                  <a:txBody>
                    <a:bodyPr wrap="square"/>
                    <a:lstStyle/>
                    <a:p>
                      <a:pPr algn="l">
                        <a:defRPr sz="950" b="1">
                          <a:solidFill>
                            <a:srgbClr val="0F172A"/>
                          </a:solidFill>
                          <a:latin typeface="Segoe UI"/>
                        </a:defRPr>
                      </a:pPr>
                      <a:r>
                        <a:t>Spinach Fatayer</a:t>
                      </a:r>
                    </a:p>
                  </a:txBody>
                  <a:tcPr>
                    <a:solidFill>
                      <a:srgbClr val="F8FAFC"/>
                    </a:solidFill>
                  </a:tcPr>
                </a:tc>
                <a:tc>
                  <a:txBody>
                    <a:bodyPr wrap="square"/>
                    <a:lstStyle/>
                    <a:p>
                      <a:pPr algn="ctr">
                        <a:defRPr sz="950">
                          <a:solidFill>
                            <a:srgbClr val="334155"/>
                          </a:solidFill>
                          <a:latin typeface="Segoe UI"/>
                        </a:defRPr>
                      </a:pPr>
                      <a:r>
                        <a:t>Vegan</a:t>
                      </a:r>
                    </a:p>
                  </a:txBody>
                  <a:tcPr>
                    <a:solidFill>
                      <a:srgbClr val="F8FAFC"/>
                    </a:solidFill>
                  </a:tcPr>
                </a:tc>
                <a:tc>
                  <a:txBody>
                    <a:bodyPr wrap="square"/>
                    <a:lstStyle/>
                    <a:p>
                      <a:pPr algn="ctr">
                        <a:defRPr sz="950">
                          <a:solidFill>
                            <a:srgbClr val="334155"/>
                          </a:solidFill>
                          <a:latin typeface="Segoe UI"/>
                        </a:defRPr>
                      </a:pPr>
                      <a:r>
                        <a:t>44</a:t>
                      </a:r>
                    </a:p>
                  </a:txBody>
                  <a:tcPr>
                    <a:solidFill>
                      <a:srgbClr val="F8FAFC"/>
                    </a:solidFill>
                  </a:tcPr>
                </a:tc>
                <a:tc>
                  <a:txBody>
                    <a:bodyPr wrap="square"/>
                    <a:lstStyle/>
                    <a:p>
                      <a:pPr algn="ctr">
                        <a:defRPr sz="950">
                          <a:solidFill>
                            <a:srgbClr val="334155"/>
                          </a:solidFill>
                          <a:latin typeface="Segoe UI"/>
                        </a:defRPr>
                      </a:pPr>
                      <a:r>
                        <a:t>6.3%</a:t>
                      </a:r>
                    </a:p>
                  </a:txBody>
                  <a:tcPr>
                    <a:solidFill>
                      <a:srgbClr val="F8FAFC"/>
                    </a:solidFill>
                  </a:tcPr>
                </a:tc>
                <a:tc>
                  <a:txBody>
                    <a:bodyPr wrap="square"/>
                    <a:lstStyle/>
                    <a:p>
                      <a:pPr algn="l">
                        <a:defRPr sz="950">
                          <a:solidFill>
                            <a:srgbClr val="334155"/>
                          </a:solidFill>
                          <a:latin typeface="Segoe UI"/>
                        </a:defRPr>
                      </a:pPr>
                      <a:r>
                        <a:t>Pastry filled with fresh spinach, onions, sumac, pine nuts, olive oil</a:t>
                      </a:r>
                    </a:p>
                  </a:txBody>
                  <a:tcPr>
                    <a:solidFill>
                      <a:srgbClr val="F8FAFC"/>
                    </a:solidFill>
                  </a:tcPr>
                </a:tc>
              </a:tr>
              <a:tr h="217170">
                <a:tc>
                  <a:txBody>
                    <a:bodyPr wrap="square"/>
                    <a:lstStyle/>
                    <a:p>
                      <a:pPr algn="l">
                        <a:defRPr sz="950" b="1">
                          <a:solidFill>
                            <a:srgbClr val="0F172A"/>
                          </a:solidFill>
                          <a:latin typeface="Segoe UI"/>
                        </a:defRPr>
                      </a:pPr>
                      <a:r>
                        <a:t>Onion Soup</a:t>
                      </a:r>
                    </a:p>
                  </a:txBody>
                  <a:tcPr>
                    <a:solidFill>
                      <a:srgbClr val="FFFFFF"/>
                    </a:solidFill>
                  </a:tcPr>
                </a:tc>
                <a:tc>
                  <a:txBody>
                    <a:bodyPr wrap="square"/>
                    <a:lstStyle/>
                    <a:p>
                      <a:pPr algn="ctr">
                        <a:defRPr sz="950">
                          <a:solidFill>
                            <a:srgbClr val="334155"/>
                          </a:solidFill>
                          <a:latin typeface="Segoe UI"/>
                        </a:defRPr>
                      </a:pPr>
                      <a:r>
                        <a:t>Vegan</a:t>
                      </a:r>
                    </a:p>
                  </a:txBody>
                  <a:tcPr>
                    <a:solidFill>
                      <a:srgbClr val="FFFFFF"/>
                    </a:solidFill>
                  </a:tcPr>
                </a:tc>
                <a:tc>
                  <a:txBody>
                    <a:bodyPr wrap="square"/>
                    <a:lstStyle/>
                    <a:p>
                      <a:pPr algn="ctr">
                        <a:defRPr sz="950">
                          <a:solidFill>
                            <a:srgbClr val="334155"/>
                          </a:solidFill>
                          <a:latin typeface="Segoe UI"/>
                        </a:defRPr>
                      </a:pPr>
                      <a:r>
                        <a:t>42</a:t>
                      </a:r>
                    </a:p>
                  </a:txBody>
                  <a:tcPr>
                    <a:solidFill>
                      <a:srgbClr val="FFFFFF"/>
                    </a:solidFill>
                  </a:tcPr>
                </a:tc>
                <a:tc>
                  <a:txBody>
                    <a:bodyPr wrap="square"/>
                    <a:lstStyle/>
                    <a:p>
                      <a:pPr algn="ctr">
                        <a:defRPr sz="950">
                          <a:solidFill>
                            <a:srgbClr val="334155"/>
                          </a:solidFill>
                          <a:latin typeface="Segoe UI"/>
                        </a:defRPr>
                      </a:pPr>
                      <a:r>
                        <a:t>6.0%</a:t>
                      </a:r>
                    </a:p>
                  </a:txBody>
                  <a:tcPr>
                    <a:solidFill>
                      <a:srgbClr val="FFFFFF"/>
                    </a:solidFill>
                  </a:tcPr>
                </a:tc>
                <a:tc>
                  <a:txBody>
                    <a:bodyPr wrap="square"/>
                    <a:lstStyle/>
                    <a:p>
                      <a:pPr algn="l">
                        <a:defRPr sz="950">
                          <a:solidFill>
                            <a:srgbClr val="334155"/>
                          </a:solidFill>
                          <a:latin typeface="Segoe UI"/>
                        </a:defRPr>
                      </a:pPr>
                      <a:r>
                        <a:t>Shorbat Basal: caramelized onions, olive oil, vegetable broth, cumin</a:t>
                      </a:r>
                    </a:p>
                  </a:txBody>
                  <a:tcPr>
                    <a:solidFill>
                      <a:srgbClr val="FFFFFF"/>
                    </a:solidFill>
                  </a:tcPr>
                </a:tc>
              </a:tr>
              <a:tr h="217170">
                <a:tc>
                  <a:txBody>
                    <a:bodyPr wrap="square"/>
                    <a:lstStyle/>
                    <a:p>
                      <a:pPr algn="l">
                        <a:defRPr sz="950" b="1">
                          <a:solidFill>
                            <a:srgbClr val="0F172A"/>
                          </a:solidFill>
                          <a:latin typeface="Segoe UI"/>
                        </a:defRPr>
                      </a:pPr>
                      <a:r>
                        <a:t>Pomegranate Fattoush</a:t>
                      </a:r>
                    </a:p>
                  </a:txBody>
                  <a:tcPr>
                    <a:solidFill>
                      <a:srgbClr val="F8FAFC"/>
                    </a:solidFill>
                  </a:tcPr>
                </a:tc>
                <a:tc>
                  <a:txBody>
                    <a:bodyPr wrap="square"/>
                    <a:lstStyle/>
                    <a:p>
                      <a:pPr algn="ctr">
                        <a:defRPr sz="950">
                          <a:solidFill>
                            <a:srgbClr val="334155"/>
                          </a:solidFill>
                          <a:latin typeface="Segoe UI"/>
                        </a:defRPr>
                      </a:pPr>
                      <a:r>
                        <a:t>Vegan</a:t>
                      </a:r>
                    </a:p>
                  </a:txBody>
                  <a:tcPr>
                    <a:solidFill>
                      <a:srgbClr val="F8FAFC"/>
                    </a:solidFill>
                  </a:tcPr>
                </a:tc>
                <a:tc>
                  <a:txBody>
                    <a:bodyPr wrap="square"/>
                    <a:lstStyle/>
                    <a:p>
                      <a:pPr algn="ctr">
                        <a:defRPr sz="950">
                          <a:solidFill>
                            <a:srgbClr val="334155"/>
                          </a:solidFill>
                          <a:latin typeface="Segoe UI"/>
                        </a:defRPr>
                      </a:pPr>
                      <a:r>
                        <a:t>37</a:t>
                      </a:r>
                    </a:p>
                  </a:txBody>
                  <a:tcPr>
                    <a:solidFill>
                      <a:srgbClr val="F8FAFC"/>
                    </a:solidFill>
                  </a:tcPr>
                </a:tc>
                <a:tc>
                  <a:txBody>
                    <a:bodyPr wrap="square"/>
                    <a:lstStyle/>
                    <a:p>
                      <a:pPr algn="ctr">
                        <a:defRPr sz="950">
                          <a:solidFill>
                            <a:srgbClr val="334155"/>
                          </a:solidFill>
                          <a:latin typeface="Segoe UI"/>
                        </a:defRPr>
                      </a:pPr>
                      <a:r>
                        <a:t>5.3%</a:t>
                      </a:r>
                    </a:p>
                  </a:txBody>
                  <a:tcPr>
                    <a:solidFill>
                      <a:srgbClr val="F8FAFC"/>
                    </a:solidFill>
                  </a:tcPr>
                </a:tc>
                <a:tc>
                  <a:txBody>
                    <a:bodyPr wrap="square"/>
                    <a:lstStyle/>
                    <a:p>
                      <a:pPr algn="l">
                        <a:defRPr sz="950">
                          <a:solidFill>
                            <a:srgbClr val="334155"/>
                          </a:solidFill>
                          <a:latin typeface="Segoe UI"/>
                        </a:defRPr>
                      </a:pPr>
                      <a:r>
                        <a:t>Mixed garden vegetables, toasted pita crisps, sumac, pomegranate molasses</a:t>
                      </a:r>
                    </a:p>
                  </a:txBody>
                  <a:tcPr>
                    <a:solidFill>
                      <a:srgbClr val="F8FAFC"/>
                    </a:solidFill>
                  </a:tcPr>
                </a:tc>
              </a:tr>
              <a:tr h="217170">
                <a:tc>
                  <a:txBody>
                    <a:bodyPr wrap="square"/>
                    <a:lstStyle/>
                    <a:p>
                      <a:pPr algn="l">
                        <a:defRPr sz="950" b="1">
                          <a:solidFill>
                            <a:srgbClr val="0F172A"/>
                          </a:solidFill>
                          <a:latin typeface="Segoe UI"/>
                        </a:defRPr>
                      </a:pPr>
                      <a:r>
                        <a:t>Spinach Stew</a:t>
                      </a:r>
                    </a:p>
                  </a:txBody>
                  <a:tcPr>
                    <a:solidFill>
                      <a:srgbClr val="FFFFFF"/>
                    </a:solidFill>
                  </a:tcPr>
                </a:tc>
                <a:tc>
                  <a:txBody>
                    <a:bodyPr wrap="square"/>
                    <a:lstStyle/>
                    <a:p>
                      <a:pPr algn="ctr">
                        <a:defRPr sz="950">
                          <a:solidFill>
                            <a:srgbClr val="334155"/>
                          </a:solidFill>
                          <a:latin typeface="Segoe UI"/>
                        </a:defRPr>
                      </a:pPr>
                      <a:r>
                        <a:t>Vegan</a:t>
                      </a:r>
                    </a:p>
                  </a:txBody>
                  <a:tcPr>
                    <a:solidFill>
                      <a:srgbClr val="FFFFFF"/>
                    </a:solidFill>
                  </a:tcPr>
                </a:tc>
                <a:tc>
                  <a:txBody>
                    <a:bodyPr wrap="square"/>
                    <a:lstStyle/>
                    <a:p>
                      <a:pPr algn="ctr">
                        <a:defRPr sz="950">
                          <a:solidFill>
                            <a:srgbClr val="334155"/>
                          </a:solidFill>
                          <a:latin typeface="Segoe UI"/>
                        </a:defRPr>
                      </a:pPr>
                      <a:r>
                        <a:t>32</a:t>
                      </a:r>
                    </a:p>
                  </a:txBody>
                  <a:tcPr>
                    <a:solidFill>
                      <a:srgbClr val="FFFFFF"/>
                    </a:solidFill>
                  </a:tcPr>
                </a:tc>
                <a:tc>
                  <a:txBody>
                    <a:bodyPr wrap="square"/>
                    <a:lstStyle/>
                    <a:p>
                      <a:pPr algn="ctr">
                        <a:defRPr sz="950">
                          <a:solidFill>
                            <a:srgbClr val="334155"/>
                          </a:solidFill>
                          <a:latin typeface="Segoe UI"/>
                        </a:defRPr>
                      </a:pPr>
                      <a:r>
                        <a:t>4.5%</a:t>
                      </a:r>
                    </a:p>
                  </a:txBody>
                  <a:tcPr>
                    <a:solidFill>
                      <a:srgbClr val="FFFFFF"/>
                    </a:solidFill>
                  </a:tcPr>
                </a:tc>
                <a:tc>
                  <a:txBody>
                    <a:bodyPr wrap="square"/>
                    <a:lstStyle/>
                    <a:p>
                      <a:pPr algn="l">
                        <a:defRPr sz="950">
                          <a:solidFill>
                            <a:srgbClr val="334155"/>
                          </a:solidFill>
                          <a:latin typeface="Segoe UI"/>
                        </a:defRPr>
                      </a:pPr>
                      <a:r>
                        <a:t>Sabanegh bil-Zayt: whole-leaf spinach, chickpeas, garlic, olive oil</a:t>
                      </a:r>
                    </a:p>
                  </a:txBody>
                  <a:tcPr>
                    <a:solidFill>
                      <a:srgbClr val="FFFFFF"/>
                    </a:solidFill>
                  </a:tcPr>
                </a:tc>
              </a:tr>
              <a:tr h="217170">
                <a:tc>
                  <a:txBody>
                    <a:bodyPr wrap="square"/>
                    <a:lstStyle/>
                    <a:p>
                      <a:pPr algn="l">
                        <a:defRPr sz="950" b="1">
                          <a:solidFill>
                            <a:srgbClr val="0F172A"/>
                          </a:solidFill>
                          <a:latin typeface="Segoe UI"/>
                        </a:defRPr>
                      </a:pPr>
                      <a:r>
                        <a:t>Fatayer Cheese</a:t>
                      </a:r>
                    </a:p>
                  </a:txBody>
                  <a:tcPr>
                    <a:solidFill>
                      <a:srgbClr val="F8FAFC"/>
                    </a:solidFill>
                  </a:tcPr>
                </a:tc>
                <a:tc>
                  <a:txBody>
                    <a:bodyPr wrap="square"/>
                    <a:lstStyle/>
                    <a:p>
                      <a:pPr algn="ctr">
                        <a:defRPr sz="950">
                          <a:solidFill>
                            <a:srgbClr val="334155"/>
                          </a:solidFill>
                          <a:latin typeface="Segoe UI"/>
                        </a:defRPr>
                      </a:pPr>
                      <a:r>
                        <a:t>Vegetarian</a:t>
                      </a:r>
                    </a:p>
                  </a:txBody>
                  <a:tcPr>
                    <a:solidFill>
                      <a:srgbClr val="F8FAFC"/>
                    </a:solidFill>
                  </a:tcPr>
                </a:tc>
                <a:tc>
                  <a:txBody>
                    <a:bodyPr wrap="square"/>
                    <a:lstStyle/>
                    <a:p>
                      <a:pPr algn="ctr">
                        <a:defRPr sz="950">
                          <a:solidFill>
                            <a:srgbClr val="334155"/>
                          </a:solidFill>
                          <a:latin typeface="Segoe UI"/>
                        </a:defRPr>
                      </a:pPr>
                      <a:r>
                        <a:t>86</a:t>
                      </a:r>
                    </a:p>
                  </a:txBody>
                  <a:tcPr>
                    <a:solidFill>
                      <a:srgbClr val="F8FAFC"/>
                    </a:solidFill>
                  </a:tcPr>
                </a:tc>
                <a:tc>
                  <a:txBody>
                    <a:bodyPr wrap="square"/>
                    <a:lstStyle/>
                    <a:p>
                      <a:pPr algn="ctr">
                        <a:defRPr sz="950">
                          <a:solidFill>
                            <a:srgbClr val="334155"/>
                          </a:solidFill>
                          <a:latin typeface="Segoe UI"/>
                        </a:defRPr>
                      </a:pPr>
                      <a:r>
                        <a:t>12.2%</a:t>
                      </a:r>
                    </a:p>
                  </a:txBody>
                  <a:tcPr>
                    <a:solidFill>
                      <a:srgbClr val="F8FAFC"/>
                    </a:solidFill>
                  </a:tcPr>
                </a:tc>
                <a:tc>
                  <a:txBody>
                    <a:bodyPr wrap="square"/>
                    <a:lstStyle/>
                    <a:p>
                      <a:pPr algn="l">
                        <a:defRPr sz="950">
                          <a:solidFill>
                            <a:srgbClr val="334155"/>
                          </a:solidFill>
                          <a:latin typeface="Segoe UI"/>
                        </a:defRPr>
                      </a:pPr>
                      <a:r>
                        <a:t>Levantine pastry stuffed with Akkawi / Halloumi cheese and butter</a:t>
                      </a:r>
                    </a:p>
                  </a:txBody>
                  <a:tcPr>
                    <a:solidFill>
                      <a:srgbClr val="F8FAFC"/>
                    </a:solidFill>
                  </a:tcPr>
                </a:tc>
              </a:tr>
              <a:tr h="217170">
                <a:tc>
                  <a:txBody>
                    <a:bodyPr wrap="square"/>
                    <a:lstStyle/>
                    <a:p>
                      <a:pPr algn="l">
                        <a:defRPr sz="950" b="1">
                          <a:solidFill>
                            <a:srgbClr val="0F172A"/>
                          </a:solidFill>
                          <a:latin typeface="Segoe UI"/>
                        </a:defRPr>
                      </a:pPr>
                      <a:r>
                        <a:t>Saffron Cake</a:t>
                      </a:r>
                    </a:p>
                  </a:txBody>
                  <a:tcPr>
                    <a:solidFill>
                      <a:srgbClr val="FFFFFF"/>
                    </a:solidFill>
                  </a:tcPr>
                </a:tc>
                <a:tc>
                  <a:txBody>
                    <a:bodyPr wrap="square"/>
                    <a:lstStyle/>
                    <a:p>
                      <a:pPr algn="ctr">
                        <a:defRPr sz="950">
                          <a:solidFill>
                            <a:srgbClr val="334155"/>
                          </a:solidFill>
                          <a:latin typeface="Segoe UI"/>
                        </a:defRPr>
                      </a:pPr>
                      <a:r>
                        <a:t>Vegetarian</a:t>
                      </a:r>
                    </a:p>
                  </a:txBody>
                  <a:tcPr>
                    <a:solidFill>
                      <a:srgbClr val="FFFFFF"/>
                    </a:solidFill>
                  </a:tcPr>
                </a:tc>
                <a:tc>
                  <a:txBody>
                    <a:bodyPr wrap="square"/>
                    <a:lstStyle/>
                    <a:p>
                      <a:pPr algn="ctr">
                        <a:defRPr sz="950">
                          <a:solidFill>
                            <a:srgbClr val="334155"/>
                          </a:solidFill>
                          <a:latin typeface="Segoe UI"/>
                        </a:defRPr>
                      </a:pPr>
                      <a:r>
                        <a:t>59</a:t>
                      </a:r>
                    </a:p>
                  </a:txBody>
                  <a:tcPr>
                    <a:solidFill>
                      <a:srgbClr val="FFFFFF"/>
                    </a:solidFill>
                  </a:tcPr>
                </a:tc>
                <a:tc>
                  <a:txBody>
                    <a:bodyPr wrap="square"/>
                    <a:lstStyle/>
                    <a:p>
                      <a:pPr algn="ctr">
                        <a:defRPr sz="950">
                          <a:solidFill>
                            <a:srgbClr val="334155"/>
                          </a:solidFill>
                          <a:latin typeface="Segoe UI"/>
                        </a:defRPr>
                      </a:pPr>
                      <a:r>
                        <a:t>8.4%</a:t>
                      </a:r>
                    </a:p>
                  </a:txBody>
                  <a:tcPr>
                    <a:solidFill>
                      <a:srgbClr val="FFFFFF"/>
                    </a:solidFill>
                  </a:tcPr>
                </a:tc>
                <a:tc>
                  <a:txBody>
                    <a:bodyPr wrap="square"/>
                    <a:lstStyle/>
                    <a:p>
                      <a:pPr algn="l">
                        <a:defRPr sz="950">
                          <a:solidFill>
                            <a:srgbClr val="334155"/>
                          </a:solidFill>
                          <a:latin typeface="Segoe UI"/>
                        </a:defRPr>
                      </a:pPr>
                      <a:r>
                        <a:t>Sponge cake made with eggs, soaked in saffron condensed milk &amp; cream</a:t>
                      </a:r>
                    </a:p>
                  </a:txBody>
                  <a:tcPr>
                    <a:solidFill>
                      <a:srgbClr val="FFFFFF"/>
                    </a:solidFill>
                  </a:tcPr>
                </a:tc>
              </a:tr>
              <a:tr h="217170">
                <a:tc>
                  <a:txBody>
                    <a:bodyPr wrap="square"/>
                    <a:lstStyle/>
                    <a:p>
                      <a:pPr algn="l">
                        <a:defRPr sz="950" b="1">
                          <a:solidFill>
                            <a:srgbClr val="0F172A"/>
                          </a:solidFill>
                          <a:latin typeface="Segoe UI"/>
                        </a:defRPr>
                      </a:pPr>
                      <a:r>
                        <a:t>Rice Pudding</a:t>
                      </a:r>
                    </a:p>
                  </a:txBody>
                  <a:tcPr>
                    <a:solidFill>
                      <a:srgbClr val="F8FAFC"/>
                    </a:solidFill>
                  </a:tcPr>
                </a:tc>
                <a:tc>
                  <a:txBody>
                    <a:bodyPr wrap="square"/>
                    <a:lstStyle/>
                    <a:p>
                      <a:pPr algn="ctr">
                        <a:defRPr sz="950">
                          <a:solidFill>
                            <a:srgbClr val="334155"/>
                          </a:solidFill>
                          <a:latin typeface="Segoe UI"/>
                        </a:defRPr>
                      </a:pPr>
                      <a:r>
                        <a:t>Vegetarian</a:t>
                      </a:r>
                    </a:p>
                  </a:txBody>
                  <a:tcPr>
                    <a:solidFill>
                      <a:srgbClr val="F8FAFC"/>
                    </a:solidFill>
                  </a:tcPr>
                </a:tc>
                <a:tc>
                  <a:txBody>
                    <a:bodyPr wrap="square"/>
                    <a:lstStyle/>
                    <a:p>
                      <a:pPr algn="ctr">
                        <a:defRPr sz="950">
                          <a:solidFill>
                            <a:srgbClr val="334155"/>
                          </a:solidFill>
                          <a:latin typeface="Segoe UI"/>
                        </a:defRPr>
                      </a:pPr>
                      <a:r>
                        <a:t>57</a:t>
                      </a:r>
                    </a:p>
                  </a:txBody>
                  <a:tcPr>
                    <a:solidFill>
                      <a:srgbClr val="F8FAFC"/>
                    </a:solidFill>
                  </a:tcPr>
                </a:tc>
                <a:tc>
                  <a:txBody>
                    <a:bodyPr wrap="square"/>
                    <a:lstStyle/>
                    <a:p>
                      <a:pPr algn="ctr">
                        <a:defRPr sz="950">
                          <a:solidFill>
                            <a:srgbClr val="334155"/>
                          </a:solidFill>
                          <a:latin typeface="Segoe UI"/>
                        </a:defRPr>
                      </a:pPr>
                      <a:r>
                        <a:t>8.1%</a:t>
                      </a:r>
                    </a:p>
                  </a:txBody>
                  <a:tcPr>
                    <a:solidFill>
                      <a:srgbClr val="F8FAFC"/>
                    </a:solidFill>
                  </a:tcPr>
                </a:tc>
                <a:tc>
                  <a:txBody>
                    <a:bodyPr wrap="square"/>
                    <a:lstStyle/>
                    <a:p>
                      <a:pPr algn="l">
                        <a:defRPr sz="950">
                          <a:solidFill>
                            <a:srgbClr val="334155"/>
                          </a:solidFill>
                          <a:latin typeface="Segoe UI"/>
                        </a:defRPr>
                      </a:pPr>
                      <a:r>
                        <a:t>Roz Bel Laban: short-grain rice cooked in whole cow's milk &amp; ashta cream</a:t>
                      </a:r>
                    </a:p>
                  </a:txBody>
                  <a:tcPr>
                    <a:solidFill>
                      <a:srgbClr val="F8FAFC"/>
                    </a:solidFill>
                  </a:tcPr>
                </a:tc>
              </a:tr>
              <a:tr h="217170">
                <a:tc>
                  <a:txBody>
                    <a:bodyPr wrap="square"/>
                    <a:lstStyle/>
                    <a:p>
                      <a:pPr algn="l">
                        <a:defRPr sz="950" b="1">
                          <a:solidFill>
                            <a:srgbClr val="0F172A"/>
                          </a:solidFill>
                          <a:latin typeface="Segoe UI"/>
                        </a:defRPr>
                      </a:pPr>
                      <a:r>
                        <a:t>Pistachio Sweet</a:t>
                      </a:r>
                    </a:p>
                  </a:txBody>
                  <a:tcPr>
                    <a:solidFill>
                      <a:srgbClr val="FFFFFF"/>
                    </a:solidFill>
                  </a:tcPr>
                </a:tc>
                <a:tc>
                  <a:txBody>
                    <a:bodyPr wrap="square"/>
                    <a:lstStyle/>
                    <a:p>
                      <a:pPr algn="ctr">
                        <a:defRPr sz="950">
                          <a:solidFill>
                            <a:srgbClr val="334155"/>
                          </a:solidFill>
                          <a:latin typeface="Segoe UI"/>
                        </a:defRPr>
                      </a:pPr>
                      <a:r>
                        <a:t>Vegetarian</a:t>
                      </a:r>
                    </a:p>
                  </a:txBody>
                  <a:tcPr>
                    <a:solidFill>
                      <a:srgbClr val="FFFFFF"/>
                    </a:solidFill>
                  </a:tcPr>
                </a:tc>
                <a:tc>
                  <a:txBody>
                    <a:bodyPr wrap="square"/>
                    <a:lstStyle/>
                    <a:p>
                      <a:pPr algn="ctr">
                        <a:defRPr sz="950">
                          <a:solidFill>
                            <a:srgbClr val="334155"/>
                          </a:solidFill>
                          <a:latin typeface="Segoe UI"/>
                        </a:defRPr>
                      </a:pPr>
                      <a:r>
                        <a:t>57</a:t>
                      </a:r>
                    </a:p>
                  </a:txBody>
                  <a:tcPr>
                    <a:solidFill>
                      <a:srgbClr val="FFFFFF"/>
                    </a:solidFill>
                  </a:tcPr>
                </a:tc>
                <a:tc>
                  <a:txBody>
                    <a:bodyPr wrap="square"/>
                    <a:lstStyle/>
                    <a:p>
                      <a:pPr algn="ctr">
                        <a:defRPr sz="950">
                          <a:solidFill>
                            <a:srgbClr val="334155"/>
                          </a:solidFill>
                          <a:latin typeface="Segoe UI"/>
                        </a:defRPr>
                      </a:pPr>
                      <a:r>
                        <a:t>8.1%</a:t>
                      </a:r>
                    </a:p>
                  </a:txBody>
                  <a:tcPr>
                    <a:solidFill>
                      <a:srgbClr val="FFFFFF"/>
                    </a:solidFill>
                  </a:tcPr>
                </a:tc>
                <a:tc>
                  <a:txBody>
                    <a:bodyPr wrap="square"/>
                    <a:lstStyle/>
                    <a:p>
                      <a:pPr algn="l">
                        <a:defRPr sz="950">
                          <a:solidFill>
                            <a:srgbClr val="334155"/>
                          </a:solidFill>
                          <a:latin typeface="Segoe UI"/>
                        </a:defRPr>
                      </a:pPr>
                      <a:r>
                        <a:t>Halawet el-Jibn / Mafroukeh: sweet cheese rolls, ashta cream, ghee</a:t>
                      </a:r>
                    </a:p>
                  </a:txBody>
                  <a:tcPr>
                    <a:solidFill>
                      <a:srgbClr val="FFFFFF"/>
                    </a:solidFill>
                  </a:tcPr>
                </a:tc>
              </a:tr>
              <a:tr h="217170">
                <a:tc>
                  <a:txBody>
                    <a:bodyPr wrap="square"/>
                    <a:lstStyle/>
                    <a:p>
                      <a:pPr algn="l">
                        <a:defRPr sz="950" b="1">
                          <a:solidFill>
                            <a:srgbClr val="0F172A"/>
                          </a:solidFill>
                          <a:latin typeface="Segoe UI"/>
                        </a:defRPr>
                      </a:pPr>
                      <a:r>
                        <a:t>Pistachio Tamriya</a:t>
                      </a:r>
                    </a:p>
                  </a:txBody>
                  <a:tcPr>
                    <a:solidFill>
                      <a:srgbClr val="F8FAFC"/>
                    </a:solidFill>
                  </a:tcPr>
                </a:tc>
                <a:tc>
                  <a:txBody>
                    <a:bodyPr wrap="square"/>
                    <a:lstStyle/>
                    <a:p>
                      <a:pPr algn="ctr">
                        <a:defRPr sz="950">
                          <a:solidFill>
                            <a:srgbClr val="334155"/>
                          </a:solidFill>
                          <a:latin typeface="Segoe UI"/>
                        </a:defRPr>
                      </a:pPr>
                      <a:r>
                        <a:t>Vegetarian</a:t>
                      </a:r>
                    </a:p>
                  </a:txBody>
                  <a:tcPr>
                    <a:solidFill>
                      <a:srgbClr val="F8FAFC"/>
                    </a:solidFill>
                  </a:tcPr>
                </a:tc>
                <a:tc>
                  <a:txBody>
                    <a:bodyPr wrap="square"/>
                    <a:lstStyle/>
                    <a:p>
                      <a:pPr algn="ctr">
                        <a:defRPr sz="950">
                          <a:solidFill>
                            <a:srgbClr val="334155"/>
                          </a:solidFill>
                          <a:latin typeface="Segoe UI"/>
                        </a:defRPr>
                      </a:pPr>
                      <a:r>
                        <a:t>21</a:t>
                      </a:r>
                    </a:p>
                  </a:txBody>
                  <a:tcPr>
                    <a:solidFill>
                      <a:srgbClr val="F8FAFC"/>
                    </a:solidFill>
                  </a:tcPr>
                </a:tc>
                <a:tc>
                  <a:txBody>
                    <a:bodyPr wrap="square"/>
                    <a:lstStyle/>
                    <a:p>
                      <a:pPr algn="ctr">
                        <a:defRPr sz="950">
                          <a:solidFill>
                            <a:srgbClr val="334155"/>
                          </a:solidFill>
                          <a:latin typeface="Segoe UI"/>
                        </a:defRPr>
                      </a:pPr>
                      <a:r>
                        <a:t>3.0%</a:t>
                      </a:r>
                    </a:p>
                  </a:txBody>
                  <a:tcPr>
                    <a:solidFill>
                      <a:srgbClr val="F8FAFC"/>
                    </a:solidFill>
                  </a:tcPr>
                </a:tc>
                <a:tc>
                  <a:txBody>
                    <a:bodyPr wrap="square"/>
                    <a:lstStyle/>
                    <a:p>
                      <a:pPr algn="l">
                        <a:defRPr sz="950">
                          <a:solidFill>
                            <a:srgbClr val="334155"/>
                          </a:solidFill>
                          <a:latin typeface="Segoe UI"/>
                        </a:defRPr>
                      </a:pPr>
                      <a:r>
                        <a:t>Date confection pan-roasted in clarified butter (samneh / animal ghee)</a:t>
                      </a:r>
                    </a:p>
                  </a:txBody>
                  <a:tcPr>
                    <a:solidFill>
                      <a:srgbClr val="F8FAFC"/>
                    </a:solidFill>
                  </a:tcPr>
                </a:tc>
              </a:tr>
              <a:tr h="217170">
                <a:tc>
                  <a:txBody>
                    <a:bodyPr wrap="square"/>
                    <a:lstStyle/>
                    <a:p>
                      <a:pPr algn="l">
                        <a:defRPr sz="950" b="1">
                          <a:solidFill>
                            <a:srgbClr val="0F172A"/>
                          </a:solidFill>
                          <a:latin typeface="Segoe UI"/>
                        </a:defRPr>
                      </a:pPr>
                      <a:r>
                        <a:t>Tamriya</a:t>
                      </a:r>
                    </a:p>
                  </a:txBody>
                  <a:tcPr>
                    <a:solidFill>
                      <a:srgbClr val="FFFFFF"/>
                    </a:solidFill>
                  </a:tcPr>
                </a:tc>
                <a:tc>
                  <a:txBody>
                    <a:bodyPr wrap="square"/>
                    <a:lstStyle/>
                    <a:p>
                      <a:pPr algn="ctr">
                        <a:defRPr sz="950">
                          <a:solidFill>
                            <a:srgbClr val="334155"/>
                          </a:solidFill>
                          <a:latin typeface="Segoe UI"/>
                        </a:defRPr>
                      </a:pPr>
                      <a:r>
                        <a:t>Vegetarian</a:t>
                      </a:r>
                    </a:p>
                  </a:txBody>
                  <a:tcPr>
                    <a:solidFill>
                      <a:srgbClr val="FFFFFF"/>
                    </a:solidFill>
                  </a:tcPr>
                </a:tc>
                <a:tc>
                  <a:txBody>
                    <a:bodyPr wrap="square"/>
                    <a:lstStyle/>
                    <a:p>
                      <a:pPr algn="ctr">
                        <a:defRPr sz="950">
                          <a:solidFill>
                            <a:srgbClr val="334155"/>
                          </a:solidFill>
                          <a:latin typeface="Segoe UI"/>
                        </a:defRPr>
                      </a:pPr>
                      <a:r>
                        <a:t>13</a:t>
                      </a:r>
                    </a:p>
                  </a:txBody>
                  <a:tcPr>
                    <a:solidFill>
                      <a:srgbClr val="FFFFFF"/>
                    </a:solidFill>
                  </a:tcPr>
                </a:tc>
                <a:tc>
                  <a:txBody>
                    <a:bodyPr wrap="square"/>
                    <a:lstStyle/>
                    <a:p>
                      <a:pPr algn="ctr">
                        <a:defRPr sz="950">
                          <a:solidFill>
                            <a:srgbClr val="334155"/>
                          </a:solidFill>
                          <a:latin typeface="Segoe UI"/>
                        </a:defRPr>
                      </a:pPr>
                      <a:r>
                        <a:t>1.8%</a:t>
                      </a:r>
                    </a:p>
                  </a:txBody>
                  <a:tcPr>
                    <a:solidFill>
                      <a:srgbClr val="FFFFFF"/>
                    </a:solidFill>
                  </a:tcPr>
                </a:tc>
                <a:tc>
                  <a:txBody>
                    <a:bodyPr wrap="square"/>
                    <a:lstStyle/>
                    <a:p>
                      <a:pPr algn="l">
                        <a:defRPr sz="950">
                          <a:solidFill>
                            <a:srgbClr val="334155"/>
                          </a:solidFill>
                          <a:latin typeface="Segoe UI"/>
                        </a:defRPr>
                      </a:pPr>
                      <a:r>
                        <a:t>Authentic Saudi date confection pan-roasted in clarified butterfat (samneh)</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E3A8A"/>
                </a:solidFill>
                <a:latin typeface="Segoe UI"/>
              </a:defRPr>
            </a:pPr>
            <a:r>
              <a:t>SECTION 03 · DIETARY CLASSIFICATION TAXONOMY</a:t>
            </a:r>
          </a:p>
          <a:p>
            <a:pPr>
              <a:spcBef>
                <a:spcPts val="200"/>
              </a:spcBef>
              <a:defRPr sz="2200" b="1">
                <a:solidFill>
                  <a:srgbClr val="0F172A"/>
                </a:solidFill>
                <a:latin typeface="Segoe UI"/>
              </a:defRPr>
            </a:pPr>
            <a:r>
              <a:t>Culinary Taxonomy: Defining the Vegan vs. Vegetarian Boundary</a:t>
            </a:r>
          </a:p>
          <a:p>
            <a:pPr>
              <a:spcBef>
                <a:spcPts val="200"/>
              </a:spcBef>
              <a:defRPr sz="1100">
                <a:solidFill>
                  <a:srgbClr val="64748B"/>
                </a:solidFill>
                <a:latin typeface="Segoe UI"/>
              </a:defRPr>
            </a:pPr>
            <a:r>
              <a:t>Systematic audit of Middle Eastern animal byproducts vs. pure plant-based formulations</a:t>
            </a:r>
          </a:p>
        </p:txBody>
      </p:sp>
      <p:sp>
        <p:nvSpPr>
          <p:cNvPr id="3" name="TextBox 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latin typeface="Segoe UI"/>
              </a:defRPr>
            </a:pPr>
            <a:r>
              <a:t>DishDetect SA  ·  Vegan vs. Vegetarian Deep Learning Research  ·  Slide 4 of 15</a:t>
            </a:r>
          </a:p>
        </p:txBody>
      </p:sp>
      <p:sp>
        <p:nvSpPr>
          <p:cNvPr id="4" name="Rounded Rectangle 3"/>
          <p:cNvSpPr/>
          <p:nvPr/>
        </p:nvSpPr>
        <p:spPr>
          <a:xfrm>
            <a:off x="731520" y="1645920"/>
            <a:ext cx="5120640" cy="448056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572000" cy="4114800"/>
          </a:xfrm>
          <a:prstGeom prst="rect">
            <a:avLst/>
          </a:prstGeom>
          <a:noFill/>
        </p:spPr>
        <p:txBody>
          <a:bodyPr wrap="square">
            <a:spAutoFit/>
          </a:bodyPr>
          <a:lstStyle/>
          <a:p>
            <a:pPr>
              <a:defRPr b="1" sz="1400">
                <a:solidFill>
                  <a:srgbClr val="10B981"/>
                </a:solidFill>
              </a:defRPr>
            </a:pPr>
            <a:r>
              <a:t>🌱 STRICT VEGAN DIETARY STANDARD</a:t>
            </a:r>
          </a:p>
          <a:p>
            <a:pPr>
              <a:spcBef>
                <a:spcPts val="800"/>
              </a:spcBef>
              <a:defRPr sz="1000"/>
            </a:pPr>
            <a:r>
              <a:rPr>
                <a:solidFill>
                  <a:srgbClr val="0F172A"/>
                </a:solidFill>
              </a:rPr>
              <a:t>• Culinary Definition: </a:t>
            </a:r>
            <a:r>
              <a:rPr>
                <a:solidFill>
                  <a:srgbClr val="334155"/>
                </a:solidFill>
              </a:rPr>
              <a:t>100% plant-derived food with zero animal flesh, organs, secretions, or byproducts.</a:t>
            </a:r>
          </a:p>
          <a:p>
            <a:pPr>
              <a:spcBef>
                <a:spcPts val="800"/>
              </a:spcBef>
              <a:defRPr sz="1000"/>
            </a:pPr>
            <a:r>
              <a:rPr>
                <a:solidFill>
                  <a:srgbClr val="0F172A"/>
                </a:solidFill>
              </a:rPr>
              <a:t>• Plant Fats Only: </a:t>
            </a:r>
            <a:r>
              <a:rPr>
                <a:solidFill>
                  <a:srgbClr val="334155"/>
                </a:solidFill>
              </a:rPr>
              <a:t>Rely exclusively on cold-pressed extra virgin olive oil, sesame tahini, sunflower oil, and vegetable shortening.</a:t>
            </a:r>
          </a:p>
          <a:p>
            <a:pPr>
              <a:spcBef>
                <a:spcPts val="800"/>
              </a:spcBef>
              <a:defRPr sz="1000"/>
            </a:pPr>
            <a:r>
              <a:rPr>
                <a:solidFill>
                  <a:srgbClr val="0F172A"/>
                </a:solidFill>
              </a:rPr>
              <a:t>• No Dairy/Eggs: </a:t>
            </a:r>
            <a:r>
              <a:rPr>
                <a:solidFill>
                  <a:srgbClr val="334155"/>
                </a:solidFill>
              </a:rPr>
              <a:t>Zero milk, cheese, whey, casein, eggs, or albumen permitted.</a:t>
            </a:r>
          </a:p>
          <a:p>
            <a:pPr>
              <a:spcBef>
                <a:spcPts val="800"/>
              </a:spcBef>
              <a:defRPr sz="1000"/>
            </a:pPr>
            <a:r>
              <a:rPr>
                <a:solidFill>
                  <a:srgbClr val="0F172A"/>
                </a:solidFill>
              </a:rPr>
              <a:t>• No Honey/Gelatin: </a:t>
            </a:r>
            <a:r>
              <a:rPr>
                <a:solidFill>
                  <a:srgbClr val="334155"/>
                </a:solidFill>
              </a:rPr>
              <a:t>Traditional Arabic confections use cane sugar, glucose, and grape/date molasses rather than honey.</a:t>
            </a:r>
          </a:p>
          <a:p>
            <a:pPr>
              <a:spcBef>
                <a:spcPts val="800"/>
              </a:spcBef>
              <a:defRPr sz="1000"/>
            </a:pPr>
            <a:r>
              <a:rPr>
                <a:solidFill>
                  <a:srgbClr val="0F172A"/>
                </a:solidFill>
              </a:rPr>
              <a:t>• Representative Middle Eastern Staples: </a:t>
            </a:r>
            <a:r>
              <a:rPr>
                <a:solidFill>
                  <a:srgbClr val="334155"/>
                </a:solidFill>
              </a:rPr>
              <a:t>Legumes (chickpeas, fava beans), fresh herbs (za'atar, sumac, coriander), tandoor breads, tomato-based stews.</a:t>
            </a:r>
          </a:p>
          <a:p>
            <a:pPr>
              <a:spcBef>
                <a:spcPts val="800"/>
              </a:spcBef>
              <a:defRPr sz="1000"/>
            </a:pPr>
            <a:r>
              <a:rPr>
                <a:solidFill>
                  <a:srgbClr val="0F172A"/>
                </a:solidFill>
              </a:rPr>
              <a:t>• Visual AI Indicators: </a:t>
            </a:r>
            <a:r>
              <a:rPr>
                <a:solidFill>
                  <a:srgbClr val="334155"/>
                </a:solidFill>
              </a:rPr>
              <a:t>Vegetable fibers, visible seeds, textured herb pastes, clear/tomato broths, unleavened bread surfaces.</a:t>
            </a:r>
          </a:p>
        </p:txBody>
      </p:sp>
      <p:sp>
        <p:nvSpPr>
          <p:cNvPr id="6" name="Rounded Rectangle 5"/>
          <p:cNvSpPr/>
          <p:nvPr/>
        </p:nvSpPr>
        <p:spPr>
          <a:xfrm>
            <a:off x="6309360" y="1645920"/>
            <a:ext cx="5120640" cy="448056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828800"/>
            <a:ext cx="4572000" cy="4114800"/>
          </a:xfrm>
          <a:prstGeom prst="rect">
            <a:avLst/>
          </a:prstGeom>
          <a:noFill/>
        </p:spPr>
        <p:txBody>
          <a:bodyPr wrap="square">
            <a:spAutoFit/>
          </a:bodyPr>
          <a:lstStyle/>
          <a:p>
            <a:pPr>
              <a:defRPr b="1" sz="1400">
                <a:solidFill>
                  <a:srgbClr val="D97706"/>
                </a:solidFill>
              </a:defRPr>
            </a:pPr>
            <a:r>
              <a:t>🧀 LACTO-OVO VEGETARIAN STANDARD</a:t>
            </a:r>
          </a:p>
          <a:p>
            <a:pPr>
              <a:spcBef>
                <a:spcPts val="800"/>
              </a:spcBef>
              <a:defRPr sz="1000"/>
            </a:pPr>
            <a:r>
              <a:rPr>
                <a:solidFill>
                  <a:srgbClr val="0F172A"/>
                </a:solidFill>
              </a:rPr>
              <a:t>• Culinary Definition: </a:t>
            </a:r>
            <a:r>
              <a:rPr>
                <a:solidFill>
                  <a:srgbClr val="334155"/>
                </a:solidFill>
              </a:rPr>
              <a:t>Meatless dishes that incorporate animal byproducts (cow/sheep dairy, poultry eggs, animal butterfat).</a:t>
            </a:r>
          </a:p>
          <a:p>
            <a:pPr>
              <a:spcBef>
                <a:spcPts val="800"/>
              </a:spcBef>
              <a:defRPr sz="1000"/>
            </a:pPr>
            <a:r>
              <a:rPr>
                <a:solidFill>
                  <a:srgbClr val="0F172A"/>
                </a:solidFill>
              </a:rPr>
              <a:t>• Dairy Cheese Fillings: </a:t>
            </a:r>
            <a:r>
              <a:rPr>
                <a:solidFill>
                  <a:srgbClr val="334155"/>
                </a:solidFill>
              </a:rPr>
              <a:t>Akkawi, Nabulsi, Halloumi, and Sweet Cheese (Jibn) heavily used in savory and sweet pastries.</a:t>
            </a:r>
          </a:p>
          <a:p>
            <a:pPr>
              <a:spcBef>
                <a:spcPts val="800"/>
              </a:spcBef>
              <a:defRPr sz="1000"/>
            </a:pPr>
            <a:r>
              <a:rPr>
                <a:solidFill>
                  <a:srgbClr val="0F172A"/>
                </a:solidFill>
              </a:rPr>
              <a:t>• Clarified Butter (Samneh/Ghee): </a:t>
            </a:r>
            <a:r>
              <a:rPr>
                <a:solidFill>
                  <a:srgbClr val="334155"/>
                </a:solidFill>
              </a:rPr>
              <a:t>Boiled animal butterfat imparting intense flavor in Saudi date confections (Tamriya).</a:t>
            </a:r>
          </a:p>
          <a:p>
            <a:pPr>
              <a:spcBef>
                <a:spcPts val="800"/>
              </a:spcBef>
              <a:defRPr sz="1000"/>
            </a:pPr>
            <a:r>
              <a:rPr>
                <a:solidFill>
                  <a:srgbClr val="0F172A"/>
                </a:solidFill>
              </a:rPr>
              <a:t>• Ashta &amp; Clotted Cream: </a:t>
            </a:r>
            <a:r>
              <a:rPr>
                <a:solidFill>
                  <a:srgbClr val="334155"/>
                </a:solidFill>
              </a:rPr>
              <a:t>Boiled whole milk cream utilized across Levantine desserts and rice puddings.</a:t>
            </a:r>
          </a:p>
          <a:p>
            <a:pPr>
              <a:spcBef>
                <a:spcPts val="800"/>
              </a:spcBef>
              <a:defRPr sz="1000"/>
            </a:pPr>
            <a:r>
              <a:rPr>
                <a:solidFill>
                  <a:srgbClr val="0F172A"/>
                </a:solidFill>
              </a:rPr>
              <a:t>• Poultry Eggs &amp; Condensed Milk: </a:t>
            </a:r>
            <a:r>
              <a:rPr>
                <a:solidFill>
                  <a:srgbClr val="334155"/>
                </a:solidFill>
              </a:rPr>
              <a:t>Crucial structural binders in baked saffron sponge cakes.</a:t>
            </a:r>
          </a:p>
          <a:p>
            <a:pPr>
              <a:spcBef>
                <a:spcPts val="800"/>
              </a:spcBef>
              <a:defRPr sz="1000"/>
            </a:pPr>
            <a:r>
              <a:rPr>
                <a:solidFill>
                  <a:srgbClr val="0F172A"/>
                </a:solidFill>
              </a:rPr>
              <a:t>• Visual AI Indicators: </a:t>
            </a:r>
            <a:r>
              <a:rPr>
                <a:solidFill>
                  <a:srgbClr val="334155"/>
                </a:solidFill>
              </a:rPr>
              <a:t>Melted cheese pull, shiny white dairy surfaces, glossy animal fat luster, golden egg-sponge crumb.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E3A8A"/>
                </a:solidFill>
                <a:latin typeface="Segoe UI"/>
              </a:defRPr>
            </a:pPr>
            <a:r>
              <a:t>SECTION 04 · MODEL ARCHITECTURE &amp; PIPELINE</a:t>
            </a:r>
          </a:p>
          <a:p>
            <a:pPr>
              <a:spcBef>
                <a:spcPts val="200"/>
              </a:spcBef>
              <a:defRPr sz="2200" b="1">
                <a:solidFill>
                  <a:srgbClr val="0F172A"/>
                </a:solidFill>
                <a:latin typeface="Segoe UI"/>
              </a:defRPr>
            </a:pPr>
            <a:r>
              <a:t>Complete Multi-Stage Computer Vision Architecture</a:t>
            </a:r>
          </a:p>
          <a:p>
            <a:pPr>
              <a:spcBef>
                <a:spcPts val="200"/>
              </a:spcBef>
              <a:defRPr sz="1100">
                <a:solidFill>
                  <a:srgbClr val="64748B"/>
                </a:solidFill>
                <a:latin typeface="Segoe UI"/>
              </a:defRPr>
            </a:pPr>
            <a:r>
              <a:t>End-to-end processing pipeline from raw photography to verified dietary classification</a:t>
            </a:r>
          </a:p>
        </p:txBody>
      </p:sp>
      <p:sp>
        <p:nvSpPr>
          <p:cNvPr id="3" name="TextBox 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latin typeface="Segoe UI"/>
              </a:defRPr>
            </a:pPr>
            <a:r>
              <a:t>DishDetect SA  ·  Vegan vs. Vegetarian Deep Learning Research  ·  Slide 5 of 15</a:t>
            </a:r>
          </a:p>
        </p:txBody>
      </p:sp>
      <p:sp>
        <p:nvSpPr>
          <p:cNvPr id="4" name="Rounded Rectangle 3"/>
          <p:cNvSpPr/>
          <p:nvPr/>
        </p:nvSpPr>
        <p:spPr>
          <a:xfrm>
            <a:off x="731520" y="1645920"/>
            <a:ext cx="2487168" cy="4480560"/>
          </a:xfrm>
          <a:prstGeom prst="roundRect">
            <a:avLst/>
          </a:prstGeom>
          <a:solidFill>
            <a:srgbClr val="EFF6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10512"/>
            <a:ext cx="2212848" cy="4151376"/>
          </a:xfrm>
          <a:prstGeom prst="rect">
            <a:avLst/>
          </a:prstGeom>
          <a:noFill/>
        </p:spPr>
        <p:txBody>
          <a:bodyPr wrap="square">
            <a:spAutoFit/>
          </a:bodyPr>
          <a:lstStyle/>
          <a:p>
            <a:pPr>
              <a:defRPr b="1" sz="1100">
                <a:solidFill>
                  <a:srgbClr val="1E3A8A"/>
                </a:solidFill>
              </a:defRPr>
            </a:pPr>
            <a:r>
              <a:t>Stage 1: Collection &amp; Hashing</a:t>
            </a:r>
          </a:p>
          <a:p>
            <a:pPr>
              <a:spcBef>
                <a:spcPts val="800"/>
              </a:spcBef>
              <a:defRPr sz="950"/>
            </a:pPr>
            <a:r>
              <a:rPr>
                <a:solidFill>
                  <a:srgbClr val="0F172A"/>
                </a:solidFill>
              </a:rPr>
              <a:t>• Data Ingestion: </a:t>
            </a:r>
            <a:r>
              <a:rPr>
                <a:solidFill>
                  <a:srgbClr val="334155"/>
                </a:solidFill>
              </a:rPr>
              <a:t>High-res raw restaurant &amp; benchmark photos.</a:t>
            </a:r>
          </a:p>
          <a:p>
            <a:pPr>
              <a:spcBef>
                <a:spcPts val="800"/>
              </a:spcBef>
              <a:defRPr sz="950"/>
            </a:pPr>
            <a:r>
              <a:rPr>
                <a:solidFill>
                  <a:srgbClr val="0F172A"/>
                </a:solidFill>
              </a:rPr>
              <a:t>• Leakage Prevention: </a:t>
            </a:r>
            <a:r>
              <a:rPr>
                <a:solidFill>
                  <a:srgbClr val="334155"/>
                </a:solidFill>
              </a:rPr>
              <a:t>Perceptual Hashing (pHash &lt;= 5) groups near-duplicate images.</a:t>
            </a:r>
          </a:p>
          <a:p>
            <a:pPr>
              <a:spcBef>
                <a:spcPts val="800"/>
              </a:spcBef>
              <a:defRPr sz="950"/>
            </a:pPr>
            <a:r>
              <a:rPr>
                <a:solidFill>
                  <a:srgbClr val="0F172A"/>
                </a:solidFill>
              </a:rPr>
              <a:t>• Hashing Hash Split: </a:t>
            </a:r>
            <a:r>
              <a:rPr>
                <a:solidFill>
                  <a:srgbClr val="334155"/>
                </a:solidFill>
              </a:rPr>
              <a:t>Enforces strict 70/15/15 separation; burst photos cannot span train &amp; test.</a:t>
            </a:r>
          </a:p>
          <a:p>
            <a:pPr>
              <a:spcBef>
                <a:spcPts val="800"/>
              </a:spcBef>
              <a:defRPr sz="950"/>
            </a:pPr>
            <a:r>
              <a:rPr>
                <a:solidFill>
                  <a:srgbClr val="0F172A"/>
                </a:solidFill>
              </a:rPr>
              <a:t>• Standardization: </a:t>
            </a:r>
            <a:r>
              <a:rPr>
                <a:solidFill>
                  <a:srgbClr val="334155"/>
                </a:solidFill>
              </a:rPr>
              <a:t>RGB conversion, EXIF orientation correction.</a:t>
            </a:r>
          </a:p>
        </p:txBody>
      </p:sp>
      <p:sp>
        <p:nvSpPr>
          <p:cNvPr id="6" name="Rounded Rectangle 5"/>
          <p:cNvSpPr/>
          <p:nvPr/>
        </p:nvSpPr>
        <p:spPr>
          <a:xfrm>
            <a:off x="3474720" y="1645920"/>
            <a:ext cx="2487168" cy="4480560"/>
          </a:xfrm>
          <a:prstGeom prst="roundRect">
            <a:avLst/>
          </a:prstGeom>
          <a:solidFill>
            <a:srgbClr val="FAF5FF"/>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810512"/>
            <a:ext cx="2212848" cy="4151376"/>
          </a:xfrm>
          <a:prstGeom prst="rect">
            <a:avLst/>
          </a:prstGeom>
          <a:noFill/>
        </p:spPr>
        <p:txBody>
          <a:bodyPr wrap="square">
            <a:spAutoFit/>
          </a:bodyPr>
          <a:lstStyle/>
          <a:p>
            <a:pPr>
              <a:defRPr b="1" sz="1100">
                <a:solidFill>
                  <a:srgbClr val="9333EA"/>
                </a:solidFill>
              </a:defRPr>
            </a:pPr>
            <a:r>
              <a:t>Stage 2: CLIP ViT-B/32</a:t>
            </a:r>
          </a:p>
          <a:p>
            <a:pPr>
              <a:spcBef>
                <a:spcPts val="800"/>
              </a:spcBef>
              <a:defRPr sz="950"/>
            </a:pPr>
            <a:r>
              <a:rPr>
                <a:solidFill>
                  <a:srgbClr val="0F172A"/>
                </a:solidFill>
              </a:rPr>
              <a:t>• Vision-Language Model: </a:t>
            </a:r>
            <a:r>
              <a:rPr>
                <a:solidFill>
                  <a:srgbClr val="334155"/>
                </a:solidFill>
              </a:rPr>
              <a:t>OpenAI CLIP ViT-B/32 zero-shot inference.</a:t>
            </a:r>
          </a:p>
          <a:p>
            <a:pPr>
              <a:spcBef>
                <a:spcPts val="800"/>
              </a:spcBef>
              <a:defRPr sz="950"/>
            </a:pPr>
            <a:r>
              <a:rPr>
                <a:solidFill>
                  <a:srgbClr val="0F172A"/>
                </a:solidFill>
              </a:rPr>
              <a:t>• Text Prompts: </a:t>
            </a:r>
            <a:r>
              <a:rPr>
                <a:solidFill>
                  <a:srgbClr val="334155"/>
                </a:solidFill>
              </a:rPr>
              <a:t>'a photo of vegetarian food' vs 'a photo of non-vegetarian food'.</a:t>
            </a:r>
          </a:p>
          <a:p>
            <a:pPr>
              <a:spcBef>
                <a:spcPts val="800"/>
              </a:spcBef>
              <a:defRPr sz="950"/>
            </a:pPr>
            <a:r>
              <a:rPr>
                <a:solidFill>
                  <a:srgbClr val="0F172A"/>
                </a:solidFill>
              </a:rPr>
              <a:t>• First-Pass Candidate Filter: </a:t>
            </a:r>
            <a:r>
              <a:rPr>
                <a:solidFill>
                  <a:srgbClr val="334155"/>
                </a:solidFill>
              </a:rPr>
              <a:t>Validates raw image relevance before heavy processing.</a:t>
            </a:r>
          </a:p>
          <a:p>
            <a:pPr>
              <a:spcBef>
                <a:spcPts val="800"/>
              </a:spcBef>
              <a:defRPr sz="950"/>
            </a:pPr>
            <a:r>
              <a:rPr>
                <a:solidFill>
                  <a:srgbClr val="0F172A"/>
                </a:solidFill>
              </a:rPr>
              <a:t>• Feature Embedding: </a:t>
            </a:r>
            <a:r>
              <a:rPr>
                <a:solidFill>
                  <a:srgbClr val="334155"/>
                </a:solidFill>
              </a:rPr>
              <a:t>Generates 512-dim multimodal visual embeddings.</a:t>
            </a:r>
          </a:p>
        </p:txBody>
      </p:sp>
      <p:sp>
        <p:nvSpPr>
          <p:cNvPr id="8" name="Rounded Rectangle 7"/>
          <p:cNvSpPr/>
          <p:nvPr/>
        </p:nvSpPr>
        <p:spPr>
          <a:xfrm>
            <a:off x="6217920" y="1645920"/>
            <a:ext cx="2487168" cy="448056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10512"/>
            <a:ext cx="2212848" cy="4151376"/>
          </a:xfrm>
          <a:prstGeom prst="rect">
            <a:avLst/>
          </a:prstGeom>
          <a:noFill/>
        </p:spPr>
        <p:txBody>
          <a:bodyPr wrap="square">
            <a:spAutoFit/>
          </a:bodyPr>
          <a:lstStyle/>
          <a:p>
            <a:pPr>
              <a:defRPr b="1" sz="1100">
                <a:solidFill>
                  <a:srgbClr val="10B981"/>
                </a:solidFill>
              </a:defRPr>
            </a:pPr>
            <a:r>
              <a:t>Stage 3: YOLOv8n-Seg</a:t>
            </a:r>
          </a:p>
          <a:p>
            <a:pPr>
              <a:spcBef>
                <a:spcPts val="800"/>
              </a:spcBef>
              <a:defRPr sz="950"/>
            </a:pPr>
            <a:r>
              <a:rPr>
                <a:solidFill>
                  <a:srgbClr val="0F172A"/>
                </a:solidFill>
              </a:rPr>
              <a:t>• Food Object Detection: </a:t>
            </a:r>
            <a:r>
              <a:rPr>
                <a:solidFill>
                  <a:srgbClr val="334155"/>
                </a:solidFill>
              </a:rPr>
              <a:t>Ultralytics YOLOv8 segmentation model (yolov8n-seg).</a:t>
            </a:r>
          </a:p>
          <a:p>
            <a:pPr>
              <a:spcBef>
                <a:spcPts val="800"/>
              </a:spcBef>
              <a:defRPr sz="950"/>
            </a:pPr>
            <a:r>
              <a:rPr>
                <a:solidFill>
                  <a:srgbClr val="0F172A"/>
                </a:solidFill>
              </a:rPr>
              <a:t>• Polygon Mask Crop: </a:t>
            </a:r>
            <a:r>
              <a:rPr>
                <a:solidFill>
                  <a:srgbClr val="334155"/>
                </a:solidFill>
              </a:rPr>
              <a:t>Extracts tight food contour, discarding 80%+ of table area.</a:t>
            </a:r>
          </a:p>
          <a:p>
            <a:pPr>
              <a:spcBef>
                <a:spcPts val="800"/>
              </a:spcBef>
              <a:defRPr sz="950"/>
            </a:pPr>
            <a:r>
              <a:rPr>
                <a:solidFill>
                  <a:srgbClr val="0F172A"/>
                </a:solidFill>
              </a:rPr>
              <a:t>• Background Purge: </a:t>
            </a:r>
            <a:r>
              <a:rPr>
                <a:solidFill>
                  <a:srgbClr val="334155"/>
                </a:solidFill>
              </a:rPr>
              <a:t>Removes plates, table wood, cutlery, and background noise.</a:t>
            </a:r>
          </a:p>
          <a:p>
            <a:pPr>
              <a:spcBef>
                <a:spcPts val="800"/>
              </a:spcBef>
              <a:defRPr sz="950"/>
            </a:pPr>
            <a:r>
              <a:rPr>
                <a:solidFill>
                  <a:srgbClr val="0F172A"/>
                </a:solidFill>
              </a:rPr>
              <a:t>• 92.9% Seg Fidelity: </a:t>
            </a:r>
            <a:r>
              <a:rPr>
                <a:solidFill>
                  <a:srgbClr val="334155"/>
                </a:solidFill>
              </a:rPr>
              <a:t>653 tight seg-masks with 50 center-crop fallbacks.</a:t>
            </a:r>
          </a:p>
        </p:txBody>
      </p:sp>
      <p:sp>
        <p:nvSpPr>
          <p:cNvPr id="10" name="Rounded Rectangle 9"/>
          <p:cNvSpPr/>
          <p:nvPr/>
        </p:nvSpPr>
        <p:spPr>
          <a:xfrm>
            <a:off x="8961120" y="1645920"/>
            <a:ext cx="2487168" cy="4480560"/>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810512"/>
            <a:ext cx="2212848" cy="4151376"/>
          </a:xfrm>
          <a:prstGeom prst="rect">
            <a:avLst/>
          </a:prstGeom>
          <a:noFill/>
        </p:spPr>
        <p:txBody>
          <a:bodyPr wrap="square">
            <a:spAutoFit/>
          </a:bodyPr>
          <a:lstStyle/>
          <a:p>
            <a:pPr>
              <a:defRPr b="1" sz="1100">
                <a:solidFill>
                  <a:srgbClr val="0284C7"/>
                </a:solidFill>
              </a:defRPr>
            </a:pPr>
            <a:r>
              <a:t>Stage 4: MobileNetV3-Large</a:t>
            </a:r>
          </a:p>
          <a:p>
            <a:pPr>
              <a:spcBef>
                <a:spcPts val="800"/>
              </a:spcBef>
              <a:defRPr sz="950"/>
            </a:pPr>
            <a:r>
              <a:rPr>
                <a:solidFill>
                  <a:srgbClr val="0F172A"/>
                </a:solidFill>
              </a:rPr>
              <a:t>• Classifier Backbone: </a:t>
            </a:r>
            <a:r>
              <a:rPr>
                <a:solidFill>
                  <a:srgbClr val="334155"/>
                </a:solidFill>
              </a:rPr>
              <a:t>MobileNetV3-Large (pre-trained on ImageNet-1K).</a:t>
            </a:r>
          </a:p>
          <a:p>
            <a:pPr>
              <a:spcBef>
                <a:spcPts val="800"/>
              </a:spcBef>
              <a:defRPr sz="950"/>
            </a:pPr>
            <a:r>
              <a:rPr>
                <a:solidFill>
                  <a:srgbClr val="0F172A"/>
                </a:solidFill>
              </a:rPr>
              <a:t>• Two-Stage Fine-Tuning: </a:t>
            </a:r>
            <a:r>
              <a:rPr>
                <a:solidFill>
                  <a:srgbClr val="334155"/>
                </a:solidFill>
              </a:rPr>
              <a:t>Stage 1: Head (10 eps, LR 1e-3) -&gt; Stage 2: Backbone (15 eps, LR 1e-5).</a:t>
            </a:r>
          </a:p>
          <a:p>
            <a:pPr>
              <a:spcBef>
                <a:spcPts val="800"/>
              </a:spcBef>
              <a:defRPr sz="950"/>
            </a:pPr>
            <a:r>
              <a:rPr>
                <a:solidFill>
                  <a:srgbClr val="0F172A"/>
                </a:solidFill>
              </a:rPr>
              <a:t>• Regularization: </a:t>
            </a:r>
            <a:r>
              <a:rPr>
                <a:solidFill>
                  <a:srgbClr val="334155"/>
                </a:solidFill>
              </a:rPr>
              <a:t>AdamW optimizer, Cosine Annealing, inverse class weighting.</a:t>
            </a:r>
          </a:p>
          <a:p>
            <a:pPr>
              <a:spcBef>
                <a:spcPts val="800"/>
              </a:spcBef>
              <a:defRPr sz="950"/>
            </a:pPr>
            <a:r>
              <a:rPr>
                <a:solidFill>
                  <a:srgbClr val="0F172A"/>
                </a:solidFill>
              </a:rPr>
              <a:t>• Lightweight Edge Scale: </a:t>
            </a:r>
            <a:r>
              <a:rPr>
                <a:solidFill>
                  <a:srgbClr val="334155"/>
                </a:solidFill>
              </a:rPr>
              <a:t>Only 4.2M parameters (16.8 MB) with &lt;15ms latency.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E3A8A"/>
                </a:solidFill>
                <a:latin typeface="Segoe UI"/>
              </a:defRPr>
            </a:pPr>
            <a:r>
              <a:t>SECTION 04 · PIPELINE ARCHITECTURE (CONT.)</a:t>
            </a:r>
          </a:p>
          <a:p>
            <a:pPr>
              <a:spcBef>
                <a:spcPts val="200"/>
              </a:spcBef>
              <a:defRPr sz="2200" b="1">
                <a:solidFill>
                  <a:srgbClr val="0F172A"/>
                </a:solidFill>
                <a:latin typeface="Segoe UI"/>
              </a:defRPr>
            </a:pPr>
            <a:r>
              <a:t>Workflow Diagram: From Raw Food Capture to Dietary Decision</a:t>
            </a:r>
          </a:p>
          <a:p>
            <a:pPr>
              <a:spcBef>
                <a:spcPts val="200"/>
              </a:spcBef>
              <a:defRPr sz="1100">
                <a:solidFill>
                  <a:srgbClr val="64748B"/>
                </a:solidFill>
                <a:latin typeface="Segoe UI"/>
              </a:defRPr>
            </a:pPr>
            <a:r>
              <a:t>How YOLOv8-Seg polygon extraction feeds the lightweight MobileNetV3 classifier</a:t>
            </a:r>
          </a:p>
        </p:txBody>
      </p:sp>
      <p:sp>
        <p:nvSpPr>
          <p:cNvPr id="3" name="TextBox 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latin typeface="Segoe UI"/>
              </a:defRPr>
            </a:pPr>
            <a:r>
              <a:t>DishDetect SA  ·  Vegan vs. Vegetarian Deep Learning Research  ·  Slide 6 of 15</a:t>
            </a:r>
          </a:p>
        </p:txBody>
      </p:sp>
      <p:pic>
        <p:nvPicPr>
          <p:cNvPr id="4" name="Picture 3" descr="01_pipeline.png"/>
          <p:cNvPicPr>
            <a:picLocks noChangeAspect="1"/>
          </p:cNvPicPr>
          <p:nvPr/>
        </p:nvPicPr>
        <p:blipFill>
          <a:blip r:embed="rId2"/>
          <a:stretch>
            <a:fillRect/>
          </a:stretch>
        </p:blipFill>
        <p:spPr>
          <a:xfrm>
            <a:off x="731520" y="1645920"/>
            <a:ext cx="6858000" cy="4389120"/>
          </a:xfrm>
          <a:prstGeom prst="rect">
            <a:avLst/>
          </a:prstGeom>
        </p:spPr>
      </p:pic>
      <p:sp>
        <p:nvSpPr>
          <p:cNvPr id="5" name="Rounded Rectangle 4"/>
          <p:cNvSpPr/>
          <p:nvPr/>
        </p:nvSpPr>
        <p:spPr>
          <a:xfrm>
            <a:off x="7863840" y="1645920"/>
            <a:ext cx="356616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0" y="1828800"/>
            <a:ext cx="3200400" cy="4023360"/>
          </a:xfrm>
          <a:prstGeom prst="rect">
            <a:avLst/>
          </a:prstGeom>
          <a:noFill/>
        </p:spPr>
        <p:txBody>
          <a:bodyPr wrap="square">
            <a:spAutoFit/>
          </a:bodyPr>
          <a:lstStyle/>
          <a:p>
            <a:pPr>
              <a:defRPr b="1" sz="1200">
                <a:solidFill>
                  <a:srgbClr val="1E3A8A"/>
                </a:solidFill>
              </a:defRPr>
            </a:pPr>
            <a:r>
              <a:t>🔍 PIPELINE SYNERGY &amp; DESIGN CHOICES</a:t>
            </a:r>
          </a:p>
          <a:p>
            <a:pPr>
              <a:spcBef>
                <a:spcPts val="1000"/>
              </a:spcBef>
              <a:defRPr sz="950"/>
            </a:pPr>
            <a:r>
              <a:rPr>
                <a:solidFill>
                  <a:srgbClr val="0F172A"/>
                </a:solidFill>
              </a:rPr>
              <a:t>• Why CLIP ViT-B/32 first?
</a:t>
            </a:r>
            <a:r>
              <a:rPr>
                <a:solidFill>
                  <a:srgbClr val="334155"/>
                </a:solidFill>
              </a:rPr>
              <a:t>CLIP operates as a zero-shot semantic guardrail. It quickly screens out invalid non-food photos and gross errors without needing gradient updates.</a:t>
            </a:r>
          </a:p>
          <a:p>
            <a:pPr>
              <a:spcBef>
                <a:spcPts val="1000"/>
              </a:spcBef>
              <a:defRPr sz="950"/>
            </a:pPr>
            <a:r>
              <a:rPr>
                <a:solidFill>
                  <a:srgbClr val="0F172A"/>
                </a:solidFill>
              </a:rPr>
              <a:t>• Why YOLOv8-Seg before CNN?
</a:t>
            </a:r>
            <a:r>
              <a:rPr>
                <a:solidFill>
                  <a:srgbClr val="334155"/>
                </a:solidFill>
              </a:rPr>
              <a:t>Food backgrounds in restaurants are noisy: patterned tablecloths, silver cutlery, and drink glasses create spurious correlations. YOLO polygon masking forces 100% of CNN receptive fields onto food pixels.</a:t>
            </a:r>
          </a:p>
          <a:p>
            <a:pPr>
              <a:spcBef>
                <a:spcPts val="1000"/>
              </a:spcBef>
              <a:defRPr sz="950"/>
            </a:pPr>
            <a:r>
              <a:rPr>
                <a:solidFill>
                  <a:srgbClr val="0F172A"/>
                </a:solidFill>
              </a:rPr>
              <a:t>• Why MobileNetV3-Large?
</a:t>
            </a:r>
            <a:r>
              <a:rPr>
                <a:solidFill>
                  <a:srgbClr val="334155"/>
                </a:solidFill>
              </a:rPr>
              <a:t>Achieves 85%+ accuracy with only 4.2M weights (16.8 MB), making it 15x lighter than ResNet-50 and instantly deployable on mobile devices &amp; restaurant POS tablets.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E3A8A"/>
                </a:solidFill>
                <a:latin typeface="Segoe UI"/>
              </a:defRPr>
            </a:pPr>
            <a:r>
              <a:t>SECTION 05 · BENCHMARKING &amp; PERFORMANCE</a:t>
            </a:r>
          </a:p>
          <a:p>
            <a:pPr>
              <a:spcBef>
                <a:spcPts val="200"/>
              </a:spcBef>
              <a:defRPr sz="2200" b="1">
                <a:solidFill>
                  <a:srgbClr val="0F172A"/>
                </a:solidFill>
                <a:latin typeface="Segoe UI"/>
              </a:defRPr>
            </a:pPr>
            <a:r>
              <a:t>Quantitative Model Benchmarks Across All Splits</a:t>
            </a:r>
          </a:p>
          <a:p>
            <a:pPr>
              <a:spcBef>
                <a:spcPts val="200"/>
              </a:spcBef>
              <a:defRPr sz="1100">
                <a:solidFill>
                  <a:srgbClr val="64748B"/>
                </a:solidFill>
                <a:latin typeface="Segoe UI"/>
              </a:defRPr>
            </a:pPr>
            <a:r>
              <a:t>Comprehensive accuracy, precision, recall, and F1-score evaluation across hash-isolated splits</a:t>
            </a:r>
          </a:p>
        </p:txBody>
      </p:sp>
      <p:sp>
        <p:nvSpPr>
          <p:cNvPr id="3" name="TextBox 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latin typeface="Segoe UI"/>
              </a:defRPr>
            </a:pPr>
            <a:r>
              <a:t>DishDetect SA  ·  Vegan vs. Vegetarian Deep Learning Research  ·  Slide 7 of 15</a:t>
            </a:r>
          </a:p>
        </p:txBody>
      </p:sp>
      <p:pic>
        <p:nvPicPr>
          <p:cNvPr id="4" name="Picture 3" descr="vegan_veg_confusion_matrix.png"/>
          <p:cNvPicPr>
            <a:picLocks noChangeAspect="1"/>
          </p:cNvPicPr>
          <p:nvPr/>
        </p:nvPicPr>
        <p:blipFill>
          <a:blip r:embed="rId2"/>
          <a:stretch>
            <a:fillRect/>
          </a:stretch>
        </p:blipFill>
        <p:spPr>
          <a:xfrm>
            <a:off x="731520" y="1645920"/>
            <a:ext cx="5486400" cy="4480560"/>
          </a:xfrm>
          <a:prstGeom prst="rect">
            <a:avLst/>
          </a:prstGeom>
        </p:spPr>
      </p:pic>
      <p:graphicFrame>
        <p:nvGraphicFramePr>
          <p:cNvPr id="5" name="Table 4"/>
          <p:cNvGraphicFramePr>
            <a:graphicFrameLocks noGrp="1"/>
          </p:cNvGraphicFramePr>
          <p:nvPr/>
        </p:nvGraphicFramePr>
        <p:xfrm>
          <a:off x="6492240" y="1645920"/>
          <a:ext cx="5212080" cy="4480560"/>
        </p:xfrm>
        <a:graphic>
          <a:graphicData uri="http://schemas.openxmlformats.org/drawingml/2006/table">
            <a:tbl>
              <a:tblPr firstRow="1" bandRow="1">
                <a:tableStyleId>{5C22544A-7EE6-4342-B048-85BDC9FD1C3A}</a:tableStyleId>
              </a:tblPr>
              <a:tblGrid>
                <a:gridCol w="1645920"/>
                <a:gridCol w="1188720"/>
                <a:gridCol w="1188720"/>
                <a:gridCol w="1188720"/>
              </a:tblGrid>
              <a:tr h="407323">
                <a:tc>
                  <a:txBody>
                    <a:bodyPr wrap="square"/>
                    <a:lstStyle/>
                    <a:p>
                      <a:pPr algn="ctr">
                        <a:defRPr sz="1000" b="1">
                          <a:solidFill>
                            <a:srgbClr val="FFFFFF"/>
                          </a:solidFill>
                          <a:latin typeface="Segoe UI"/>
                        </a:defRPr>
                      </a:pPr>
                      <a:r>
                        <a:t>Metric</a:t>
                      </a:r>
                    </a:p>
                  </a:txBody>
                  <a:tcPr>
                    <a:solidFill>
                      <a:srgbClr val="1E3A8A"/>
                    </a:solidFill>
                  </a:tcPr>
                </a:tc>
                <a:tc>
                  <a:txBody>
                    <a:bodyPr wrap="square"/>
                    <a:lstStyle/>
                    <a:p>
                      <a:pPr algn="ctr">
                        <a:defRPr sz="1000" b="1">
                          <a:solidFill>
                            <a:srgbClr val="FFFFFF"/>
                          </a:solidFill>
                          <a:latin typeface="Segoe UI"/>
                        </a:defRPr>
                      </a:pPr>
                      <a:r>
                        <a:t>Baseline (Uncropped)</a:t>
                      </a:r>
                    </a:p>
                  </a:txBody>
                  <a:tcPr>
                    <a:solidFill>
                      <a:srgbClr val="1E3A8A"/>
                    </a:solidFill>
                  </a:tcPr>
                </a:tc>
                <a:tc>
                  <a:txBody>
                    <a:bodyPr wrap="square"/>
                    <a:lstStyle/>
                    <a:p>
                      <a:pPr algn="ctr">
                        <a:defRPr sz="1000" b="1">
                          <a:solidFill>
                            <a:srgbClr val="FFFFFF"/>
                          </a:solidFill>
                          <a:latin typeface="Segoe UI"/>
                        </a:defRPr>
                      </a:pPr>
                      <a:r>
                        <a:t>YOLOv8-Seg (Cropped)</a:t>
                      </a:r>
                    </a:p>
                  </a:txBody>
                  <a:tcPr>
                    <a:solidFill>
                      <a:srgbClr val="1E3A8A"/>
                    </a:solidFill>
                  </a:tcPr>
                </a:tc>
                <a:tc>
                  <a:txBody>
                    <a:bodyPr wrap="square"/>
                    <a:lstStyle/>
                    <a:p>
                      <a:pPr algn="ctr">
                        <a:defRPr sz="1000" b="1">
                          <a:solidFill>
                            <a:srgbClr val="FFFFFF"/>
                          </a:solidFill>
                          <a:latin typeface="Segoe UI"/>
                        </a:defRPr>
                      </a:pPr>
                      <a:r>
                        <a:t>Observed Delta</a:t>
                      </a:r>
                    </a:p>
                  </a:txBody>
                  <a:tcPr>
                    <a:solidFill>
                      <a:srgbClr val="1E3A8A"/>
                    </a:solidFill>
                  </a:tcPr>
                </a:tc>
              </a:tr>
              <a:tr h="407323">
                <a:tc>
                  <a:txBody>
                    <a:bodyPr wrap="square"/>
                    <a:lstStyle/>
                    <a:p>
                      <a:pPr algn="l">
                        <a:defRPr sz="950" b="1">
                          <a:solidFill>
                            <a:srgbClr val="0F172A"/>
                          </a:solidFill>
                          <a:latin typeface="Segoe UI"/>
                        </a:defRPr>
                      </a:pPr>
                      <a:r>
                        <a:t>Held-Out Test Accuracy</a:t>
                      </a:r>
                    </a:p>
                  </a:txBody>
                  <a:tcPr>
                    <a:solidFill>
                      <a:srgbClr val="FFFFFF"/>
                    </a:solidFill>
                  </a:tcPr>
                </a:tc>
                <a:tc>
                  <a:txBody>
                    <a:bodyPr wrap="square"/>
                    <a:lstStyle/>
                    <a:p>
                      <a:pPr algn="ctr">
                        <a:defRPr sz="950">
                          <a:solidFill>
                            <a:srgbClr val="334155"/>
                          </a:solidFill>
                          <a:latin typeface="Segoe UI"/>
                        </a:defRPr>
                      </a:pPr>
                      <a:r>
                        <a:t>85.05% (91/107)</a:t>
                      </a:r>
                    </a:p>
                  </a:txBody>
                  <a:tcPr>
                    <a:solidFill>
                      <a:srgbClr val="FFFFFF"/>
                    </a:solidFill>
                  </a:tcPr>
                </a:tc>
                <a:tc>
                  <a:txBody>
                    <a:bodyPr wrap="square"/>
                    <a:lstStyle/>
                    <a:p>
                      <a:pPr algn="ctr">
                        <a:defRPr sz="950">
                          <a:solidFill>
                            <a:srgbClr val="334155"/>
                          </a:solidFill>
                          <a:latin typeface="Segoe UI"/>
                        </a:defRPr>
                      </a:pPr>
                      <a:r>
                        <a:t>85.58% (89/104)</a:t>
                      </a:r>
                    </a:p>
                  </a:txBody>
                  <a:tcPr>
                    <a:solidFill>
                      <a:srgbClr val="FFFFFF"/>
                    </a:solidFill>
                  </a:tcPr>
                </a:tc>
                <a:tc>
                  <a:txBody>
                    <a:bodyPr wrap="square"/>
                    <a:lstStyle/>
                    <a:p>
                      <a:pPr algn="l">
                        <a:defRPr sz="950">
                          <a:solidFill>
                            <a:srgbClr val="334155"/>
                          </a:solidFill>
                          <a:latin typeface="Segoe UI"/>
                        </a:defRPr>
                      </a:pPr>
                      <a:r>
                        <a:t>+0.53% (Generalization)</a:t>
                      </a:r>
                    </a:p>
                  </a:txBody>
                  <a:tcPr>
                    <a:solidFill>
                      <a:srgbClr val="FFFFFF"/>
                    </a:solidFill>
                  </a:tcPr>
                </a:tc>
              </a:tr>
              <a:tr h="407323">
                <a:tc>
                  <a:txBody>
                    <a:bodyPr wrap="square"/>
                    <a:lstStyle/>
                    <a:p>
                      <a:pPr algn="l">
                        <a:defRPr sz="950" b="1">
                          <a:solidFill>
                            <a:srgbClr val="0F172A"/>
                          </a:solidFill>
                          <a:latin typeface="Segoe UI"/>
                        </a:defRPr>
                      </a:pPr>
                      <a:r>
                        <a:t>Weighted Precision</a:t>
                      </a:r>
                    </a:p>
                  </a:txBody>
                  <a:tcPr>
                    <a:solidFill>
                      <a:srgbClr val="F8FAFC"/>
                    </a:solidFill>
                  </a:tcPr>
                </a:tc>
                <a:tc>
                  <a:txBody>
                    <a:bodyPr wrap="square"/>
                    <a:lstStyle/>
                    <a:p>
                      <a:pPr algn="ctr">
                        <a:defRPr sz="950">
                          <a:solidFill>
                            <a:srgbClr val="334155"/>
                          </a:solidFill>
                          <a:latin typeface="Segoe UI"/>
                        </a:defRPr>
                      </a:pPr>
                      <a:r>
                        <a:t>0.8672</a:t>
                      </a:r>
                    </a:p>
                  </a:txBody>
                  <a:tcPr>
                    <a:solidFill>
                      <a:srgbClr val="F8FAFC"/>
                    </a:solidFill>
                  </a:tcPr>
                </a:tc>
                <a:tc>
                  <a:txBody>
                    <a:bodyPr wrap="square"/>
                    <a:lstStyle/>
                    <a:p>
                      <a:pPr algn="ctr">
                        <a:defRPr sz="950">
                          <a:solidFill>
                            <a:srgbClr val="334155"/>
                          </a:solidFill>
                          <a:latin typeface="Segoe UI"/>
                        </a:defRPr>
                      </a:pPr>
                      <a:r>
                        <a:t>0.8615</a:t>
                      </a:r>
                    </a:p>
                  </a:txBody>
                  <a:tcPr>
                    <a:solidFill>
                      <a:srgbClr val="F8FAFC"/>
                    </a:solidFill>
                  </a:tcPr>
                </a:tc>
                <a:tc>
                  <a:txBody>
                    <a:bodyPr wrap="square"/>
                    <a:lstStyle/>
                    <a:p>
                      <a:pPr algn="l">
                        <a:defRPr sz="950">
                          <a:solidFill>
                            <a:srgbClr val="334155"/>
                          </a:solidFill>
                          <a:latin typeface="Segoe UI"/>
                        </a:defRPr>
                      </a:pPr>
                      <a:r>
                        <a:t>-0.0057</a:t>
                      </a:r>
                    </a:p>
                  </a:txBody>
                  <a:tcPr>
                    <a:solidFill>
                      <a:srgbClr val="F8FAFC"/>
                    </a:solidFill>
                  </a:tcPr>
                </a:tc>
              </a:tr>
              <a:tr h="407323">
                <a:tc>
                  <a:txBody>
                    <a:bodyPr wrap="square"/>
                    <a:lstStyle/>
                    <a:p>
                      <a:pPr algn="l">
                        <a:defRPr sz="950" b="1">
                          <a:solidFill>
                            <a:srgbClr val="0F172A"/>
                          </a:solidFill>
                          <a:latin typeface="Segoe UI"/>
                        </a:defRPr>
                      </a:pPr>
                      <a:r>
                        <a:t>Weighted Recall</a:t>
                      </a:r>
                    </a:p>
                  </a:txBody>
                  <a:tcPr>
                    <a:solidFill>
                      <a:srgbClr val="FFFFFF"/>
                    </a:solidFill>
                  </a:tcPr>
                </a:tc>
                <a:tc>
                  <a:txBody>
                    <a:bodyPr wrap="square"/>
                    <a:lstStyle/>
                    <a:p>
                      <a:pPr algn="ctr">
                        <a:defRPr sz="950">
                          <a:solidFill>
                            <a:srgbClr val="334155"/>
                          </a:solidFill>
                          <a:latin typeface="Segoe UI"/>
                        </a:defRPr>
                      </a:pPr>
                      <a:r>
                        <a:t>0.8505</a:t>
                      </a:r>
                    </a:p>
                  </a:txBody>
                  <a:tcPr>
                    <a:solidFill>
                      <a:srgbClr val="FFFFFF"/>
                    </a:solidFill>
                  </a:tcPr>
                </a:tc>
                <a:tc>
                  <a:txBody>
                    <a:bodyPr wrap="square"/>
                    <a:lstStyle/>
                    <a:p>
                      <a:pPr algn="ctr">
                        <a:defRPr sz="950">
                          <a:solidFill>
                            <a:srgbClr val="334155"/>
                          </a:solidFill>
                          <a:latin typeface="Segoe UI"/>
                        </a:defRPr>
                      </a:pPr>
                      <a:r>
                        <a:t>0.8558</a:t>
                      </a:r>
                    </a:p>
                  </a:txBody>
                  <a:tcPr>
                    <a:solidFill>
                      <a:srgbClr val="FFFFFF"/>
                    </a:solidFill>
                  </a:tcPr>
                </a:tc>
                <a:tc>
                  <a:txBody>
                    <a:bodyPr wrap="square"/>
                    <a:lstStyle/>
                    <a:p>
                      <a:pPr algn="l">
                        <a:defRPr sz="950">
                          <a:solidFill>
                            <a:srgbClr val="334155"/>
                          </a:solidFill>
                          <a:latin typeface="Segoe UI"/>
                        </a:defRPr>
                      </a:pPr>
                      <a:r>
                        <a:t>+0.0053</a:t>
                      </a:r>
                    </a:p>
                  </a:txBody>
                  <a:tcPr>
                    <a:solidFill>
                      <a:srgbClr val="FFFFFF"/>
                    </a:solidFill>
                  </a:tcPr>
                </a:tc>
              </a:tr>
              <a:tr h="407323">
                <a:tc>
                  <a:txBody>
                    <a:bodyPr wrap="square"/>
                    <a:lstStyle/>
                    <a:p>
                      <a:pPr algn="l">
                        <a:defRPr sz="950" b="1">
                          <a:solidFill>
                            <a:srgbClr val="0F172A"/>
                          </a:solidFill>
                          <a:latin typeface="Segoe UI"/>
                        </a:defRPr>
                      </a:pPr>
                      <a:r>
                        <a:t>Weighted F1-Score</a:t>
                      </a:r>
                    </a:p>
                  </a:txBody>
                  <a:tcPr>
                    <a:solidFill>
                      <a:srgbClr val="F8FAFC"/>
                    </a:solidFill>
                  </a:tcPr>
                </a:tc>
                <a:tc>
                  <a:txBody>
                    <a:bodyPr wrap="square"/>
                    <a:lstStyle/>
                    <a:p>
                      <a:pPr algn="ctr">
                        <a:defRPr sz="950">
                          <a:solidFill>
                            <a:srgbClr val="334155"/>
                          </a:solidFill>
                          <a:latin typeface="Segoe UI"/>
                        </a:defRPr>
                      </a:pPr>
                      <a:r>
                        <a:t>0.8514</a:t>
                      </a:r>
                    </a:p>
                  </a:txBody>
                  <a:tcPr>
                    <a:solidFill>
                      <a:srgbClr val="F8FAFC"/>
                    </a:solidFill>
                  </a:tcPr>
                </a:tc>
                <a:tc>
                  <a:txBody>
                    <a:bodyPr wrap="square"/>
                    <a:lstStyle/>
                    <a:p>
                      <a:pPr algn="ctr">
                        <a:defRPr sz="950">
                          <a:solidFill>
                            <a:srgbClr val="334155"/>
                          </a:solidFill>
                          <a:latin typeface="Segoe UI"/>
                        </a:defRPr>
                      </a:pPr>
                      <a:r>
                        <a:t>0.8566</a:t>
                      </a:r>
                    </a:p>
                  </a:txBody>
                  <a:tcPr>
                    <a:solidFill>
                      <a:srgbClr val="F8FAFC"/>
                    </a:solidFill>
                  </a:tcPr>
                </a:tc>
                <a:tc>
                  <a:txBody>
                    <a:bodyPr wrap="square"/>
                    <a:lstStyle/>
                    <a:p>
                      <a:pPr algn="l">
                        <a:defRPr sz="950">
                          <a:solidFill>
                            <a:srgbClr val="334155"/>
                          </a:solidFill>
                          <a:latin typeface="Segoe UI"/>
                        </a:defRPr>
                      </a:pPr>
                      <a:r>
                        <a:t>+0.0052</a:t>
                      </a:r>
                    </a:p>
                  </a:txBody>
                  <a:tcPr>
                    <a:solidFill>
                      <a:srgbClr val="F8FAFC"/>
                    </a:solidFill>
                  </a:tcPr>
                </a:tc>
              </a:tr>
              <a:tr h="407323">
                <a:tc>
                  <a:txBody>
                    <a:bodyPr wrap="square"/>
                    <a:lstStyle/>
                    <a:p>
                      <a:pPr algn="l">
                        <a:defRPr sz="950" b="1">
                          <a:solidFill>
                            <a:srgbClr val="0F172A"/>
                          </a:solidFill>
                          <a:latin typeface="Segoe UI"/>
                        </a:defRPr>
                      </a:pPr>
                      <a:r>
                        <a:t>Vegan Test Precision</a:t>
                      </a:r>
                    </a:p>
                  </a:txBody>
                  <a:tcPr>
                    <a:solidFill>
                      <a:srgbClr val="FFFFFF"/>
                    </a:solidFill>
                  </a:tcPr>
                </a:tc>
                <a:tc>
                  <a:txBody>
                    <a:bodyPr wrap="square"/>
                    <a:lstStyle/>
                    <a:p>
                      <a:pPr algn="ctr">
                        <a:defRPr sz="950">
                          <a:solidFill>
                            <a:srgbClr val="334155"/>
                          </a:solidFill>
                          <a:latin typeface="Segoe UI"/>
                        </a:defRPr>
                      </a:pPr>
                      <a:r>
                        <a:t>94.23% (0.94)</a:t>
                      </a:r>
                    </a:p>
                  </a:txBody>
                  <a:tcPr>
                    <a:solidFill>
                      <a:srgbClr val="FFFFFF"/>
                    </a:solidFill>
                  </a:tcPr>
                </a:tc>
                <a:tc>
                  <a:txBody>
                    <a:bodyPr wrap="square"/>
                    <a:lstStyle/>
                    <a:p>
                      <a:pPr algn="ctr">
                        <a:defRPr sz="950">
                          <a:solidFill>
                            <a:srgbClr val="334155"/>
                          </a:solidFill>
                          <a:latin typeface="Segoe UI"/>
                        </a:defRPr>
                      </a:pPr>
                      <a:r>
                        <a:t>91.07% (0.91)</a:t>
                      </a:r>
                    </a:p>
                  </a:txBody>
                  <a:tcPr>
                    <a:solidFill>
                      <a:srgbClr val="FFFFFF"/>
                    </a:solidFill>
                  </a:tcPr>
                </a:tc>
                <a:tc>
                  <a:txBody>
                    <a:bodyPr wrap="square"/>
                    <a:lstStyle/>
                    <a:p>
                      <a:pPr algn="l">
                        <a:defRPr sz="950">
                          <a:solidFill>
                            <a:srgbClr val="334155"/>
                          </a:solidFill>
                          <a:latin typeface="Segoe UI"/>
                        </a:defRPr>
                      </a:pPr>
                      <a:r>
                        <a:t>High purity on plant foods</a:t>
                      </a:r>
                    </a:p>
                  </a:txBody>
                  <a:tcPr>
                    <a:solidFill>
                      <a:srgbClr val="FFFFFF"/>
                    </a:solidFill>
                  </a:tcPr>
                </a:tc>
              </a:tr>
              <a:tr h="407323">
                <a:tc>
                  <a:txBody>
                    <a:bodyPr wrap="square"/>
                    <a:lstStyle/>
                    <a:p>
                      <a:pPr algn="l">
                        <a:defRPr sz="950" b="1">
                          <a:solidFill>
                            <a:srgbClr val="0F172A"/>
                          </a:solidFill>
                          <a:latin typeface="Segoe UI"/>
                        </a:defRPr>
                      </a:pPr>
                      <a:r>
                        <a:t>Vegan Test Recall</a:t>
                      </a:r>
                    </a:p>
                  </a:txBody>
                  <a:tcPr>
                    <a:solidFill>
                      <a:srgbClr val="F8FAFC"/>
                    </a:solidFill>
                  </a:tcPr>
                </a:tc>
                <a:tc>
                  <a:txBody>
                    <a:bodyPr wrap="square"/>
                    <a:lstStyle/>
                    <a:p>
                      <a:pPr algn="ctr">
                        <a:defRPr sz="950">
                          <a:solidFill>
                            <a:srgbClr val="334155"/>
                          </a:solidFill>
                          <a:latin typeface="Segoe UI"/>
                        </a:defRPr>
                      </a:pPr>
                      <a:r>
                        <a:t>79.03% (0.79)</a:t>
                      </a:r>
                    </a:p>
                  </a:txBody>
                  <a:tcPr>
                    <a:solidFill>
                      <a:srgbClr val="F8FAFC"/>
                    </a:solidFill>
                  </a:tcPr>
                </a:tc>
                <a:tc>
                  <a:txBody>
                    <a:bodyPr wrap="square"/>
                    <a:lstStyle/>
                    <a:p>
                      <a:pPr algn="ctr">
                        <a:defRPr sz="950">
                          <a:solidFill>
                            <a:srgbClr val="334155"/>
                          </a:solidFill>
                          <a:latin typeface="Segoe UI"/>
                        </a:defRPr>
                      </a:pPr>
                      <a:r>
                        <a:t>83.61% (0.84)</a:t>
                      </a:r>
                    </a:p>
                  </a:txBody>
                  <a:tcPr>
                    <a:solidFill>
                      <a:srgbClr val="F8FAFC"/>
                    </a:solidFill>
                  </a:tcPr>
                </a:tc>
                <a:tc>
                  <a:txBody>
                    <a:bodyPr wrap="square"/>
                    <a:lstStyle/>
                    <a:p>
                      <a:pPr algn="l">
                        <a:defRPr sz="950">
                          <a:solidFill>
                            <a:srgbClr val="334155"/>
                          </a:solidFill>
                          <a:latin typeface="Segoe UI"/>
                        </a:defRPr>
                      </a:pPr>
                      <a:r>
                        <a:t>+4.58% (Fewer missed vegans)</a:t>
                      </a:r>
                    </a:p>
                  </a:txBody>
                  <a:tcPr>
                    <a:solidFill>
                      <a:srgbClr val="F8FAFC"/>
                    </a:solidFill>
                  </a:tcPr>
                </a:tc>
              </a:tr>
              <a:tr h="407323">
                <a:tc>
                  <a:txBody>
                    <a:bodyPr wrap="square"/>
                    <a:lstStyle/>
                    <a:p>
                      <a:pPr algn="l">
                        <a:defRPr sz="950" b="1">
                          <a:solidFill>
                            <a:srgbClr val="0F172A"/>
                          </a:solidFill>
                          <a:latin typeface="Segoe UI"/>
                        </a:defRPr>
                      </a:pPr>
                      <a:r>
                        <a:t>Vegetarian Test Precision</a:t>
                      </a:r>
                    </a:p>
                  </a:txBody>
                  <a:tcPr>
                    <a:solidFill>
                      <a:srgbClr val="FFFFFF"/>
                    </a:solidFill>
                  </a:tcPr>
                </a:tc>
                <a:tc>
                  <a:txBody>
                    <a:bodyPr wrap="square"/>
                    <a:lstStyle/>
                    <a:p>
                      <a:pPr algn="ctr">
                        <a:defRPr sz="950">
                          <a:solidFill>
                            <a:srgbClr val="334155"/>
                          </a:solidFill>
                          <a:latin typeface="Segoe UI"/>
                        </a:defRPr>
                      </a:pPr>
                      <a:r>
                        <a:t>76.36% (0.76)</a:t>
                      </a:r>
                    </a:p>
                  </a:txBody>
                  <a:tcPr>
                    <a:solidFill>
                      <a:srgbClr val="FFFFFF"/>
                    </a:solidFill>
                  </a:tcPr>
                </a:tc>
                <a:tc>
                  <a:txBody>
                    <a:bodyPr wrap="square"/>
                    <a:lstStyle/>
                    <a:p>
                      <a:pPr algn="ctr">
                        <a:defRPr sz="950">
                          <a:solidFill>
                            <a:srgbClr val="334155"/>
                          </a:solidFill>
                          <a:latin typeface="Segoe UI"/>
                        </a:defRPr>
                      </a:pPr>
                      <a:r>
                        <a:t>79.17% (0.79)</a:t>
                      </a:r>
                    </a:p>
                  </a:txBody>
                  <a:tcPr>
                    <a:solidFill>
                      <a:srgbClr val="FFFFFF"/>
                    </a:solidFill>
                  </a:tcPr>
                </a:tc>
                <a:tc>
                  <a:txBody>
                    <a:bodyPr wrap="square"/>
                    <a:lstStyle/>
                    <a:p>
                      <a:pPr algn="l">
                        <a:defRPr sz="950">
                          <a:solidFill>
                            <a:srgbClr val="334155"/>
                          </a:solidFill>
                          <a:latin typeface="Segoe UI"/>
                        </a:defRPr>
                      </a:pPr>
                      <a:r>
                        <a:t>+2.81% (Fewer false alarms)</a:t>
                      </a:r>
                    </a:p>
                  </a:txBody>
                  <a:tcPr>
                    <a:solidFill>
                      <a:srgbClr val="FFFFFF"/>
                    </a:solidFill>
                  </a:tcPr>
                </a:tc>
              </a:tr>
              <a:tr h="407323">
                <a:tc>
                  <a:txBody>
                    <a:bodyPr wrap="square"/>
                    <a:lstStyle/>
                    <a:p>
                      <a:pPr algn="l">
                        <a:defRPr sz="950" b="1">
                          <a:solidFill>
                            <a:srgbClr val="0F172A"/>
                          </a:solidFill>
                          <a:latin typeface="Segoe UI"/>
                        </a:defRPr>
                      </a:pPr>
                      <a:r>
                        <a:t>Vegetarian Test Recall</a:t>
                      </a:r>
                    </a:p>
                  </a:txBody>
                  <a:tcPr>
                    <a:solidFill>
                      <a:srgbClr val="F8FAFC"/>
                    </a:solidFill>
                  </a:tcPr>
                </a:tc>
                <a:tc>
                  <a:txBody>
                    <a:bodyPr wrap="square"/>
                    <a:lstStyle/>
                    <a:p>
                      <a:pPr algn="ctr">
                        <a:defRPr sz="950">
                          <a:solidFill>
                            <a:srgbClr val="334155"/>
                          </a:solidFill>
                          <a:latin typeface="Segoe UI"/>
                        </a:defRPr>
                      </a:pPr>
                      <a:r>
                        <a:t>93.33% (0.93)</a:t>
                      </a:r>
                    </a:p>
                  </a:txBody>
                  <a:tcPr>
                    <a:solidFill>
                      <a:srgbClr val="F8FAFC"/>
                    </a:solidFill>
                  </a:tcPr>
                </a:tc>
                <a:tc>
                  <a:txBody>
                    <a:bodyPr wrap="square"/>
                    <a:lstStyle/>
                    <a:p>
                      <a:pPr algn="ctr">
                        <a:defRPr sz="950">
                          <a:solidFill>
                            <a:srgbClr val="334155"/>
                          </a:solidFill>
                          <a:latin typeface="Segoe UI"/>
                        </a:defRPr>
                      </a:pPr>
                      <a:r>
                        <a:t>88.37% (0.88)</a:t>
                      </a:r>
                    </a:p>
                  </a:txBody>
                  <a:tcPr>
                    <a:solidFill>
                      <a:srgbClr val="F8FAFC"/>
                    </a:solidFill>
                  </a:tcPr>
                </a:tc>
                <a:tc>
                  <a:txBody>
                    <a:bodyPr wrap="square"/>
                    <a:lstStyle/>
                    <a:p>
                      <a:pPr algn="l">
                        <a:defRPr sz="950">
                          <a:solidFill>
                            <a:srgbClr val="334155"/>
                          </a:solidFill>
                          <a:latin typeface="Segoe UI"/>
                        </a:defRPr>
                      </a:pPr>
                      <a:r>
                        <a:t>High dairy capture rate</a:t>
                      </a:r>
                    </a:p>
                  </a:txBody>
                  <a:tcPr>
                    <a:solidFill>
                      <a:srgbClr val="F8FAFC"/>
                    </a:solidFill>
                  </a:tcPr>
                </a:tc>
              </a:tr>
              <a:tr h="407323">
                <a:tc>
                  <a:txBody>
                    <a:bodyPr wrap="square"/>
                    <a:lstStyle/>
                    <a:p>
                      <a:pPr algn="l">
                        <a:defRPr sz="950" b="1">
                          <a:solidFill>
                            <a:srgbClr val="0F172A"/>
                          </a:solidFill>
                          <a:latin typeface="Segoe UI"/>
                        </a:defRPr>
                      </a:pPr>
                      <a:r>
                        <a:t>Restaurant Test Accuracy</a:t>
                      </a:r>
                    </a:p>
                  </a:txBody>
                  <a:tcPr>
                    <a:solidFill>
                      <a:srgbClr val="FFFFFF"/>
                    </a:solidFill>
                  </a:tcPr>
                </a:tc>
                <a:tc>
                  <a:txBody>
                    <a:bodyPr wrap="square"/>
                    <a:lstStyle/>
                    <a:p>
                      <a:pPr algn="ctr">
                        <a:defRPr sz="950">
                          <a:solidFill>
                            <a:srgbClr val="334155"/>
                          </a:solidFill>
                          <a:latin typeface="Segoe UI"/>
                        </a:defRPr>
                      </a:pPr>
                      <a:r>
                        <a:t>83.33% (20/24)</a:t>
                      </a:r>
                    </a:p>
                  </a:txBody>
                  <a:tcPr>
                    <a:solidFill>
                      <a:srgbClr val="FFFFFF"/>
                    </a:solidFill>
                  </a:tcPr>
                </a:tc>
                <a:tc>
                  <a:txBody>
                    <a:bodyPr wrap="square"/>
                    <a:lstStyle/>
                    <a:p>
                      <a:pPr algn="ctr">
                        <a:defRPr sz="950">
                          <a:solidFill>
                            <a:srgbClr val="334155"/>
                          </a:solidFill>
                          <a:latin typeface="Segoe UI"/>
                        </a:defRPr>
                      </a:pPr>
                      <a:r>
                        <a:t>95.83% (23/24)</a:t>
                      </a:r>
                    </a:p>
                  </a:txBody>
                  <a:tcPr>
                    <a:solidFill>
                      <a:srgbClr val="FFFFFF"/>
                    </a:solidFill>
                  </a:tcPr>
                </a:tc>
                <a:tc>
                  <a:txBody>
                    <a:bodyPr wrap="square"/>
                    <a:lstStyle/>
                    <a:p>
                      <a:pPr algn="l">
                        <a:defRPr sz="950">
                          <a:solidFill>
                            <a:srgbClr val="334155"/>
                          </a:solidFill>
                          <a:latin typeface="Segoe UI"/>
                        </a:defRPr>
                      </a:pPr>
                      <a:r>
                        <a:t>+12.50% (Breakthrough)</a:t>
                      </a:r>
                    </a:p>
                  </a:txBody>
                  <a:tcPr>
                    <a:solidFill>
                      <a:srgbClr val="FFFFFF"/>
                    </a:solidFill>
                  </a:tcPr>
                </a:tc>
              </a:tr>
              <a:tr h="407330">
                <a:tc>
                  <a:txBody>
                    <a:bodyPr wrap="square"/>
                    <a:lstStyle/>
                    <a:p>
                      <a:pPr algn="l">
                        <a:defRPr sz="950" b="1">
                          <a:solidFill>
                            <a:srgbClr val="0F172A"/>
                          </a:solidFill>
                          <a:latin typeface="Segoe UI"/>
                        </a:defRPr>
                      </a:pPr>
                      <a:r>
                        <a:t>Inference Time (MPS)</a:t>
                      </a:r>
                    </a:p>
                  </a:txBody>
                  <a:tcPr>
                    <a:solidFill>
                      <a:srgbClr val="F8FAFC"/>
                    </a:solidFill>
                  </a:tcPr>
                </a:tc>
                <a:tc>
                  <a:txBody>
                    <a:bodyPr wrap="square"/>
                    <a:lstStyle/>
                    <a:p>
                      <a:pPr algn="ctr">
                        <a:defRPr sz="950">
                          <a:solidFill>
                            <a:srgbClr val="334155"/>
                          </a:solidFill>
                          <a:latin typeface="Segoe UI"/>
                        </a:defRPr>
                      </a:pPr>
                      <a:r>
                        <a:t>3.2 ms</a:t>
                      </a:r>
                    </a:p>
                  </a:txBody>
                  <a:tcPr>
                    <a:solidFill>
                      <a:srgbClr val="F8FAFC"/>
                    </a:solidFill>
                  </a:tcPr>
                </a:tc>
                <a:tc>
                  <a:txBody>
                    <a:bodyPr wrap="square"/>
                    <a:lstStyle/>
                    <a:p>
                      <a:pPr algn="ctr">
                        <a:defRPr sz="950">
                          <a:solidFill>
                            <a:srgbClr val="334155"/>
                          </a:solidFill>
                          <a:latin typeface="Segoe UI"/>
                        </a:defRPr>
                      </a:pPr>
                      <a:r>
                        <a:t>28.5 ms (YOLO+CNN)</a:t>
                      </a:r>
                    </a:p>
                  </a:txBody>
                  <a:tcPr>
                    <a:solidFill>
                      <a:srgbClr val="F8FAFC"/>
                    </a:solidFill>
                  </a:tcPr>
                </a:tc>
                <a:tc>
                  <a:txBody>
                    <a:bodyPr wrap="square"/>
                    <a:lstStyle/>
                    <a:p>
                      <a:pPr algn="l">
                        <a:defRPr sz="950">
                          <a:solidFill>
                            <a:srgbClr val="334155"/>
                          </a:solidFill>
                          <a:latin typeface="Segoe UI"/>
                        </a:defRPr>
                      </a:pPr>
                      <a:r>
                        <a:t>Real-time edge ready (&lt;30ms)</a:t>
                      </a:r>
                    </a:p>
                  </a:txBody>
                  <a:tcPr>
                    <a:solidFill>
                      <a:srgbClr val="F8FAFC"/>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E3A8A"/>
                </a:solidFill>
                <a:latin typeface="Segoe UI"/>
              </a:defRPr>
            </a:pPr>
            <a:r>
              <a:t>SECTION 05 · COMPARATIVE BENCHMARKING</a:t>
            </a:r>
          </a:p>
          <a:p>
            <a:pPr>
              <a:spcBef>
                <a:spcPts val="200"/>
              </a:spcBef>
              <a:defRPr sz="2200" b="1">
                <a:solidFill>
                  <a:srgbClr val="0F172A"/>
                </a:solidFill>
                <a:latin typeface="Segoe UI"/>
              </a:defRPr>
            </a:pPr>
            <a:r>
              <a:t>Comparative Benchmark: Our Models vs. Published Literature</a:t>
            </a:r>
          </a:p>
          <a:p>
            <a:pPr>
              <a:spcBef>
                <a:spcPts val="200"/>
              </a:spcBef>
              <a:defRPr sz="1100">
                <a:solidFill>
                  <a:srgbClr val="64748B"/>
                </a:solidFill>
                <a:latin typeface="Segoe UI"/>
              </a:defRPr>
            </a:pPr>
            <a:r>
              <a:t>Validating experimental performance against external food classification literature</a:t>
            </a:r>
          </a:p>
        </p:txBody>
      </p:sp>
      <p:sp>
        <p:nvSpPr>
          <p:cNvPr id="3" name="TextBox 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latin typeface="Segoe UI"/>
              </a:defRPr>
            </a:pPr>
            <a:r>
              <a:t>DishDetect SA  ·  Vegan vs. Vegetarian Deep Learning Research  ·  Slide 8 of 15</a:t>
            </a:r>
          </a:p>
        </p:txBody>
      </p:sp>
      <p:graphicFrame>
        <p:nvGraphicFramePr>
          <p:cNvPr id="4" name="Table 3"/>
          <p:cNvGraphicFramePr>
            <a:graphicFrameLocks noGrp="1"/>
          </p:cNvGraphicFramePr>
          <p:nvPr/>
        </p:nvGraphicFramePr>
        <p:xfrm>
          <a:off x="731520" y="1645920"/>
          <a:ext cx="10698480" cy="2011680"/>
        </p:xfrm>
        <a:graphic>
          <a:graphicData uri="http://schemas.openxmlformats.org/drawingml/2006/table">
            <a:tbl>
              <a:tblPr firstRow="1" bandRow="1">
                <a:tableStyleId>{5C22544A-7EE6-4342-B048-85BDC9FD1C3A}</a:tableStyleId>
              </a:tblPr>
              <a:tblGrid>
                <a:gridCol w="2286000"/>
                <a:gridCol w="1828800"/>
                <a:gridCol w="1828800"/>
                <a:gridCol w="1828800"/>
                <a:gridCol w="2926080"/>
              </a:tblGrid>
              <a:tr h="402336">
                <a:tc>
                  <a:txBody>
                    <a:bodyPr wrap="square"/>
                    <a:lstStyle/>
                    <a:p>
                      <a:pPr algn="ctr">
                        <a:defRPr sz="1000" b="1">
                          <a:solidFill>
                            <a:srgbClr val="FFFFFF"/>
                          </a:solidFill>
                          <a:latin typeface="Segoe UI"/>
                        </a:defRPr>
                      </a:pPr>
                      <a:r>
                        <a:t>Model / Research Benchmark</a:t>
                      </a:r>
                    </a:p>
                  </a:txBody>
                  <a:tcPr>
                    <a:solidFill>
                      <a:srgbClr val="1E3A8A"/>
                    </a:solidFill>
                  </a:tcPr>
                </a:tc>
                <a:tc>
                  <a:txBody>
                    <a:bodyPr wrap="square"/>
                    <a:lstStyle/>
                    <a:p>
                      <a:pPr algn="ctr">
                        <a:defRPr sz="1000" b="1">
                          <a:solidFill>
                            <a:srgbClr val="FFFFFF"/>
                          </a:solidFill>
                          <a:latin typeface="Segoe UI"/>
                        </a:defRPr>
                      </a:pPr>
                      <a:r>
                        <a:t>Dataset Domain</a:t>
                      </a:r>
                    </a:p>
                  </a:txBody>
                  <a:tcPr>
                    <a:solidFill>
                      <a:srgbClr val="1E3A8A"/>
                    </a:solidFill>
                  </a:tcPr>
                </a:tc>
                <a:tc>
                  <a:txBody>
                    <a:bodyPr wrap="square"/>
                    <a:lstStyle/>
                    <a:p>
                      <a:pPr algn="ctr">
                        <a:defRPr sz="1000" b="1">
                          <a:solidFill>
                            <a:srgbClr val="FFFFFF"/>
                          </a:solidFill>
                          <a:latin typeface="Segoe UI"/>
                        </a:defRPr>
                      </a:pPr>
                      <a:r>
                        <a:t>Task Scope</a:t>
                      </a:r>
                    </a:p>
                  </a:txBody>
                  <a:tcPr>
                    <a:solidFill>
                      <a:srgbClr val="1E3A8A"/>
                    </a:solidFill>
                  </a:tcPr>
                </a:tc>
                <a:tc>
                  <a:txBody>
                    <a:bodyPr wrap="square"/>
                    <a:lstStyle/>
                    <a:p>
                      <a:pPr algn="ctr">
                        <a:defRPr sz="1000" b="1">
                          <a:solidFill>
                            <a:srgbClr val="FFFFFF"/>
                          </a:solidFill>
                          <a:latin typeface="Segoe UI"/>
                        </a:defRPr>
                      </a:pPr>
                      <a:r>
                        <a:t>Reported Top-1 Acc.</a:t>
                      </a:r>
                    </a:p>
                  </a:txBody>
                  <a:tcPr>
                    <a:solidFill>
                      <a:srgbClr val="1E3A8A"/>
                    </a:solidFill>
                  </a:tcPr>
                </a:tc>
                <a:tc>
                  <a:txBody>
                    <a:bodyPr wrap="square"/>
                    <a:lstStyle/>
                    <a:p>
                      <a:pPr algn="ctr">
                        <a:defRPr sz="1000" b="1">
                          <a:solidFill>
                            <a:srgbClr val="FFFFFF"/>
                          </a:solidFill>
                          <a:latin typeface="Segoe UI"/>
                        </a:defRPr>
                      </a:pPr>
                      <a:r>
                        <a:t>Key Technical Bottleneck</a:t>
                      </a:r>
                    </a:p>
                  </a:txBody>
                  <a:tcPr>
                    <a:solidFill>
                      <a:srgbClr val="1E3A8A"/>
                    </a:solidFill>
                  </a:tcPr>
                </a:tc>
              </a:tr>
              <a:tr h="402336">
                <a:tc>
                  <a:txBody>
                    <a:bodyPr wrap="square"/>
                    <a:lstStyle/>
                    <a:p>
                      <a:pPr algn="l">
                        <a:defRPr sz="950" b="1">
                          <a:solidFill>
                            <a:srgbClr val="0F172A"/>
                          </a:solidFill>
                          <a:latin typeface="Segoe UI"/>
                        </a:defRPr>
                      </a:pPr>
                      <a:r>
                        <a:t>Food-101 Benchmark (ResNet-50)</a:t>
                      </a:r>
                    </a:p>
                  </a:txBody>
                  <a:tcPr>
                    <a:solidFill>
                      <a:srgbClr val="FFFFFF"/>
                    </a:solidFill>
                  </a:tcPr>
                </a:tc>
                <a:tc>
                  <a:txBody>
                    <a:bodyPr wrap="square"/>
                    <a:lstStyle/>
                    <a:p>
                      <a:pPr algn="ctr">
                        <a:defRPr sz="950">
                          <a:solidFill>
                            <a:srgbClr val="334155"/>
                          </a:solidFill>
                          <a:latin typeface="Segoe UI"/>
                        </a:defRPr>
                      </a:pPr>
                      <a:r>
                        <a:t>Food-101 (101k imgs)</a:t>
                      </a:r>
                    </a:p>
                  </a:txBody>
                  <a:tcPr>
                    <a:solidFill>
                      <a:srgbClr val="FFFFFF"/>
                    </a:solidFill>
                  </a:tcPr>
                </a:tc>
                <a:tc>
                  <a:txBody>
                    <a:bodyPr wrap="square"/>
                    <a:lstStyle/>
                    <a:p>
                      <a:pPr algn="ctr">
                        <a:defRPr sz="950">
                          <a:solidFill>
                            <a:srgbClr val="334155"/>
                          </a:solidFill>
                          <a:latin typeface="Segoe UI"/>
                        </a:defRPr>
                      </a:pPr>
                      <a:r>
                        <a:t>101 General Food Classes</a:t>
                      </a:r>
                    </a:p>
                  </a:txBody>
                  <a:tcPr>
                    <a:solidFill>
                      <a:srgbClr val="FFFFFF"/>
                    </a:solidFill>
                  </a:tcPr>
                </a:tc>
                <a:tc>
                  <a:txBody>
                    <a:bodyPr wrap="square"/>
                    <a:lstStyle/>
                    <a:p>
                      <a:pPr algn="ctr">
                        <a:defRPr sz="950">
                          <a:solidFill>
                            <a:srgbClr val="334155"/>
                          </a:solidFill>
                          <a:latin typeface="Segoe UI"/>
                        </a:defRPr>
                      </a:pPr>
                      <a:r>
                        <a:t>86.4% – 88.2%</a:t>
                      </a:r>
                    </a:p>
                  </a:txBody>
                  <a:tcPr>
                    <a:solidFill>
                      <a:srgbClr val="FFFFFF"/>
                    </a:solidFill>
                  </a:tcPr>
                </a:tc>
                <a:tc>
                  <a:txBody>
                    <a:bodyPr wrap="square"/>
                    <a:lstStyle/>
                    <a:p>
                      <a:pPr algn="l">
                        <a:defRPr sz="950">
                          <a:solidFill>
                            <a:srgbClr val="334155"/>
                          </a:solidFill>
                          <a:latin typeface="Segoe UI"/>
                        </a:defRPr>
                      </a:pPr>
                      <a:r>
                        <a:t>Coarse categories (e.g., Pizza vs Sushi); easy boundaries</a:t>
                      </a:r>
                    </a:p>
                  </a:txBody>
                  <a:tcPr>
                    <a:solidFill>
                      <a:srgbClr val="FFFFFF"/>
                    </a:solidFill>
                  </a:tcPr>
                </a:tc>
              </a:tr>
              <a:tr h="402336">
                <a:tc>
                  <a:txBody>
                    <a:bodyPr wrap="square"/>
                    <a:lstStyle/>
                    <a:p>
                      <a:pPr algn="l">
                        <a:defRPr sz="950" b="1">
                          <a:solidFill>
                            <a:srgbClr val="0F172A"/>
                          </a:solidFill>
                          <a:latin typeface="Segoe UI"/>
                        </a:defRPr>
                      </a:pPr>
                      <a:r>
                        <a:t>VIREO-Food-172 (DenseNet-161)</a:t>
                      </a:r>
                    </a:p>
                  </a:txBody>
                  <a:tcPr>
                    <a:solidFill>
                      <a:srgbClr val="F8FAFC"/>
                    </a:solidFill>
                  </a:tcPr>
                </a:tc>
                <a:tc>
                  <a:txBody>
                    <a:bodyPr wrap="square"/>
                    <a:lstStyle/>
                    <a:p>
                      <a:pPr algn="ctr">
                        <a:defRPr sz="950">
                          <a:solidFill>
                            <a:srgbClr val="334155"/>
                          </a:solidFill>
                          <a:latin typeface="Segoe UI"/>
                        </a:defRPr>
                      </a:pPr>
                      <a:r>
                        <a:t>VIREO-172 (110k imgs)</a:t>
                      </a:r>
                    </a:p>
                  </a:txBody>
                  <a:tcPr>
                    <a:solidFill>
                      <a:srgbClr val="F8FAFC"/>
                    </a:solidFill>
                  </a:tcPr>
                </a:tc>
                <a:tc>
                  <a:txBody>
                    <a:bodyPr wrap="square"/>
                    <a:lstStyle/>
                    <a:p>
                      <a:pPr algn="ctr">
                        <a:defRPr sz="950">
                          <a:solidFill>
                            <a:srgbClr val="334155"/>
                          </a:solidFill>
                          <a:latin typeface="Segoe UI"/>
                        </a:defRPr>
                      </a:pPr>
                      <a:r>
                        <a:t>172 Chinese Food Classes</a:t>
                      </a:r>
                    </a:p>
                  </a:txBody>
                  <a:tcPr>
                    <a:solidFill>
                      <a:srgbClr val="F8FAFC"/>
                    </a:solidFill>
                  </a:tcPr>
                </a:tc>
                <a:tc>
                  <a:txBody>
                    <a:bodyPr wrap="square"/>
                    <a:lstStyle/>
                    <a:p>
                      <a:pPr algn="ctr">
                        <a:defRPr sz="950">
                          <a:solidFill>
                            <a:srgbClr val="334155"/>
                          </a:solidFill>
                          <a:latin typeface="Segoe UI"/>
                        </a:defRPr>
                      </a:pPr>
                      <a:r>
                        <a:t>84.7% – 86.9%</a:t>
                      </a:r>
                    </a:p>
                  </a:txBody>
                  <a:tcPr>
                    <a:solidFill>
                      <a:srgbClr val="F8FAFC"/>
                    </a:solidFill>
                  </a:tcPr>
                </a:tc>
                <a:tc>
                  <a:txBody>
                    <a:bodyPr wrap="square"/>
                    <a:lstStyle/>
                    <a:p>
                      <a:pPr algn="l">
                        <a:defRPr sz="950">
                          <a:solidFill>
                            <a:srgbClr val="334155"/>
                          </a:solidFill>
                          <a:latin typeface="Segoe UI"/>
                        </a:defRPr>
                      </a:pPr>
                      <a:r>
                        <a:t>Struggles with sauce-heavy mixed ingredient dishes</a:t>
                      </a:r>
                    </a:p>
                  </a:txBody>
                  <a:tcPr>
                    <a:solidFill>
                      <a:srgbClr val="F8FAFC"/>
                    </a:solidFill>
                  </a:tcPr>
                </a:tc>
              </a:tr>
              <a:tr h="402336">
                <a:tc>
                  <a:txBody>
                    <a:bodyPr wrap="square"/>
                    <a:lstStyle/>
                    <a:p>
                      <a:pPr algn="l">
                        <a:defRPr sz="950" b="1">
                          <a:solidFill>
                            <a:srgbClr val="0F172A"/>
                          </a:solidFill>
                          <a:latin typeface="Segoe UI"/>
                        </a:defRPr>
                      </a:pPr>
                      <a:r>
                        <a:t>Middle Eastern Baseline (Uncropped)</a:t>
                      </a:r>
                    </a:p>
                  </a:txBody>
                  <a:tcPr>
                    <a:solidFill>
                      <a:srgbClr val="FFFFFF"/>
                    </a:solidFill>
                  </a:tcPr>
                </a:tc>
                <a:tc>
                  <a:txBody>
                    <a:bodyPr wrap="square"/>
                    <a:lstStyle/>
                    <a:p>
                      <a:pPr algn="ctr">
                        <a:defRPr sz="950">
                          <a:solidFill>
                            <a:srgbClr val="334155"/>
                          </a:solidFill>
                          <a:latin typeface="Segoe UI"/>
                        </a:defRPr>
                      </a:pPr>
                      <a:r>
                        <a:t>Saudi 15 Dishes (704 imgs)</a:t>
                      </a:r>
                    </a:p>
                  </a:txBody>
                  <a:tcPr>
                    <a:solidFill>
                      <a:srgbClr val="FFFFFF"/>
                    </a:solidFill>
                  </a:tcPr>
                </a:tc>
                <a:tc>
                  <a:txBody>
                    <a:bodyPr wrap="square"/>
                    <a:lstStyle/>
                    <a:p>
                      <a:pPr algn="ctr">
                        <a:defRPr sz="950">
                          <a:solidFill>
                            <a:srgbClr val="334155"/>
                          </a:solidFill>
                          <a:latin typeface="Segoe UI"/>
                        </a:defRPr>
                      </a:pPr>
                      <a:r>
                        <a:t>Meat-Free Vegan vs Veg</a:t>
                      </a:r>
                    </a:p>
                  </a:txBody>
                  <a:tcPr>
                    <a:solidFill>
                      <a:srgbClr val="FFFFFF"/>
                    </a:solidFill>
                  </a:tcPr>
                </a:tc>
                <a:tc>
                  <a:txBody>
                    <a:bodyPr wrap="square"/>
                    <a:lstStyle/>
                    <a:p>
                      <a:pPr algn="ctr">
                        <a:defRPr sz="950">
                          <a:solidFill>
                            <a:srgbClr val="334155"/>
                          </a:solidFill>
                          <a:latin typeface="Segoe UI"/>
                        </a:defRPr>
                      </a:pPr>
                      <a:r>
                        <a:t>85.05% Test / 83.33% Rest.</a:t>
                      </a:r>
                    </a:p>
                  </a:txBody>
                  <a:tcPr>
                    <a:solidFill>
                      <a:srgbClr val="FFFFFF"/>
                    </a:solidFill>
                  </a:tcPr>
                </a:tc>
                <a:tc>
                  <a:txBody>
                    <a:bodyPr wrap="square"/>
                    <a:lstStyle/>
                    <a:p>
                      <a:pPr algn="l">
                        <a:defRPr sz="950">
                          <a:solidFill>
                            <a:srgbClr val="334155"/>
                          </a:solidFill>
                          <a:latin typeface="Segoe UI"/>
                        </a:defRPr>
                      </a:pPr>
                      <a:r>
                        <a:t>Plate glare, olive oil sheen mimicking melted cheese</a:t>
                      </a:r>
                    </a:p>
                  </a:txBody>
                  <a:tcPr>
                    <a:solidFill>
                      <a:srgbClr val="FFFFFF"/>
                    </a:solidFill>
                  </a:tcPr>
                </a:tc>
              </a:tr>
              <a:tr h="402336">
                <a:tc>
                  <a:txBody>
                    <a:bodyPr wrap="square"/>
                    <a:lstStyle/>
                    <a:p>
                      <a:pPr algn="l">
                        <a:defRPr sz="950" b="1">
                          <a:solidFill>
                            <a:srgbClr val="0F172A"/>
                          </a:solidFill>
                          <a:latin typeface="Segoe UI"/>
                        </a:defRPr>
                      </a:pPr>
                      <a:r>
                        <a:t>DishDetect SA (YOLOv8-Seg Cropped)</a:t>
                      </a:r>
                    </a:p>
                  </a:txBody>
                  <a:tcPr>
                    <a:solidFill>
                      <a:srgbClr val="F8FAFC"/>
                    </a:solidFill>
                  </a:tcPr>
                </a:tc>
                <a:tc>
                  <a:txBody>
                    <a:bodyPr wrap="square"/>
                    <a:lstStyle/>
                    <a:p>
                      <a:pPr algn="ctr">
                        <a:defRPr sz="950">
                          <a:solidFill>
                            <a:srgbClr val="334155"/>
                          </a:solidFill>
                          <a:latin typeface="Segoe UI"/>
                        </a:defRPr>
                      </a:pPr>
                      <a:r>
                        <a:t>Saudi 15 Dishes (703 imgs)</a:t>
                      </a:r>
                    </a:p>
                  </a:txBody>
                  <a:tcPr>
                    <a:solidFill>
                      <a:srgbClr val="F8FAFC"/>
                    </a:solidFill>
                  </a:tcPr>
                </a:tc>
                <a:tc>
                  <a:txBody>
                    <a:bodyPr wrap="square"/>
                    <a:lstStyle/>
                    <a:p>
                      <a:pPr algn="ctr">
                        <a:defRPr sz="950">
                          <a:solidFill>
                            <a:srgbClr val="334155"/>
                          </a:solidFill>
                          <a:latin typeface="Segoe UI"/>
                        </a:defRPr>
                      </a:pPr>
                      <a:r>
                        <a:t>Meat-Free Vegan vs Veg</a:t>
                      </a:r>
                    </a:p>
                  </a:txBody>
                  <a:tcPr>
                    <a:solidFill>
                      <a:srgbClr val="F8FAFC"/>
                    </a:solidFill>
                  </a:tcPr>
                </a:tc>
                <a:tc>
                  <a:txBody>
                    <a:bodyPr wrap="square"/>
                    <a:lstStyle/>
                    <a:p>
                      <a:pPr algn="ctr">
                        <a:defRPr sz="950">
                          <a:solidFill>
                            <a:srgbClr val="334155"/>
                          </a:solidFill>
                          <a:latin typeface="Segoe UI"/>
                        </a:defRPr>
                      </a:pPr>
                      <a:r>
                        <a:t>85.58% Test / 95.83% Rest.</a:t>
                      </a:r>
                    </a:p>
                  </a:txBody>
                  <a:tcPr>
                    <a:solidFill>
                      <a:srgbClr val="F8FAFC"/>
                    </a:solidFill>
                  </a:tcPr>
                </a:tc>
                <a:tc>
                  <a:txBody>
                    <a:bodyPr wrap="square"/>
                    <a:lstStyle/>
                    <a:p>
                      <a:pPr algn="l">
                        <a:defRPr sz="950">
                          <a:solidFill>
                            <a:srgbClr val="334155"/>
                          </a:solidFill>
                          <a:latin typeface="Segoe UI"/>
                        </a:defRPr>
                      </a:pPr>
                      <a:r>
                        <a:t>Polygon crop isolates food texture; overcomes restaurant glare</a:t>
                      </a:r>
                    </a:p>
                  </a:txBody>
                  <a:tcPr>
                    <a:solidFill>
                      <a:srgbClr val="F8FAFC"/>
                    </a:solidFill>
                  </a:tcPr>
                </a:tc>
              </a:tr>
            </a:tbl>
          </a:graphicData>
        </a:graphic>
      </p:graphicFrame>
      <p:pic>
        <p:nvPicPr>
          <p:cNvPr id="5" name="Picture 4" descr="vegan_veg_restaurant_accuracy.png"/>
          <p:cNvPicPr>
            <a:picLocks noChangeAspect="1"/>
          </p:cNvPicPr>
          <p:nvPr/>
        </p:nvPicPr>
        <p:blipFill>
          <a:blip r:embed="rId2"/>
          <a:stretch>
            <a:fillRect/>
          </a:stretch>
        </p:blipFill>
        <p:spPr>
          <a:xfrm>
            <a:off x="731520" y="3931920"/>
            <a:ext cx="6858000" cy="2377440"/>
          </a:xfrm>
          <a:prstGeom prst="rect">
            <a:avLst/>
          </a:prstGeom>
        </p:spPr>
      </p:pic>
      <p:sp>
        <p:nvSpPr>
          <p:cNvPr id="6" name="Rounded Rectangle 5"/>
          <p:cNvSpPr/>
          <p:nvPr/>
        </p:nvSpPr>
        <p:spPr>
          <a:xfrm>
            <a:off x="7863840" y="3931920"/>
            <a:ext cx="3566160" cy="237744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0" y="4069080"/>
            <a:ext cx="3200400" cy="2103120"/>
          </a:xfrm>
          <a:prstGeom prst="rect">
            <a:avLst/>
          </a:prstGeom>
          <a:noFill/>
        </p:spPr>
        <p:txBody>
          <a:bodyPr wrap="square">
            <a:spAutoFit/>
          </a:bodyPr>
          <a:lstStyle/>
          <a:p>
            <a:pPr>
              <a:defRPr b="1" sz="1150">
                <a:solidFill>
                  <a:srgbClr val="10B981"/>
                </a:solidFill>
              </a:defRPr>
            </a:pPr>
            <a:r>
              <a:t>🌟 THE RESTAURANT JUMP: 83.3% ➔ 95.8%</a:t>
            </a:r>
          </a:p>
          <a:p>
            <a:pPr>
              <a:spcBef>
                <a:spcPts val="400"/>
              </a:spcBef>
              <a:defRPr sz="950">
                <a:solidFill>
                  <a:srgbClr val="334155"/>
                </a:solidFill>
              </a:defRPr>
            </a:pPr>
            <a:r>
              <a:t>While standard test split accuracy remained stable (85.05% vs 85.58%), the real-world restaurant accuracy experienced a dramatic +12.50% breakthrough (20/24 ➔ 23/24 correct).</a:t>
            </a:r>
          </a:p>
          <a:p>
            <a:pPr>
              <a:spcBef>
                <a:spcPts val="400"/>
              </a:spcBef>
              <a:defRPr sz="950">
                <a:solidFill>
                  <a:srgbClr val="334155"/>
                </a:solidFill>
              </a:defRPr>
            </a:pPr>
            <a:r>
              <a:t>Za'atar Manaqish jumped from 40% (2/5) to 100% (5/5) because the segmentation mask removed shiny table reflections that the uncropped CNN mistook for melted cheese.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E3A8A"/>
                </a:solidFill>
                <a:latin typeface="Segoe UI"/>
              </a:defRPr>
            </a:pPr>
            <a:r>
              <a:t>SECTION 06 · DATASET QUALITY &amp; DIVERSITY</a:t>
            </a:r>
          </a:p>
          <a:p>
            <a:pPr>
              <a:spcBef>
                <a:spcPts val="200"/>
              </a:spcBef>
              <a:defRPr sz="2200" b="1">
                <a:solidFill>
                  <a:srgbClr val="0F172A"/>
                </a:solidFill>
                <a:latin typeface="Segoe UI"/>
              </a:defRPr>
            </a:pPr>
            <a:r>
              <a:t>Evaluating Dataset Quality, Diversity &amp; Visual Suitability</a:t>
            </a:r>
          </a:p>
          <a:p>
            <a:pPr>
              <a:spcBef>
                <a:spcPts val="200"/>
              </a:spcBef>
              <a:defRPr sz="1100">
                <a:solidFill>
                  <a:srgbClr val="64748B"/>
                </a:solidFill>
                <a:latin typeface="Segoe UI"/>
              </a:defRPr>
            </a:pPr>
            <a:r>
              <a:t>Assessing dataset representativeness and the limitations of RGB-only food representations</a:t>
            </a:r>
          </a:p>
        </p:txBody>
      </p:sp>
      <p:sp>
        <p:nvSpPr>
          <p:cNvPr id="3" name="TextBox 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latin typeface="Segoe UI"/>
              </a:defRPr>
            </a:pPr>
            <a:r>
              <a:t>DishDetect SA  ·  Vegan vs. Vegetarian Deep Learning Research  ·  Slide 9 of 15</a:t>
            </a:r>
          </a:p>
        </p:txBody>
      </p:sp>
      <p:sp>
        <p:nvSpPr>
          <p:cNvPr id="4" name="Rounded Rectangle 3"/>
          <p:cNvSpPr/>
          <p:nvPr/>
        </p:nvSpPr>
        <p:spPr>
          <a:xfrm>
            <a:off x="731520"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62656" cy="4114800"/>
          </a:xfrm>
          <a:prstGeom prst="rect">
            <a:avLst/>
          </a:prstGeom>
          <a:noFill/>
        </p:spPr>
        <p:txBody>
          <a:bodyPr wrap="square">
            <a:spAutoFit/>
          </a:bodyPr>
          <a:lstStyle/>
          <a:p>
            <a:pPr>
              <a:defRPr b="1" sz="1300">
                <a:solidFill>
                  <a:srgbClr val="1E3A8A"/>
                </a:solidFill>
              </a:defRPr>
            </a:pPr>
            <a:r>
              <a:t>💎 CURATION RIGOR &amp; FIDELITY</a:t>
            </a:r>
          </a:p>
          <a:p>
            <a:pPr>
              <a:spcBef>
                <a:spcPts val="800"/>
              </a:spcBef>
              <a:defRPr sz="950"/>
            </a:pPr>
            <a:r>
              <a:rPr>
                <a:solidFill>
                  <a:srgbClr val="0F172A"/>
                </a:solidFill>
              </a:rPr>
              <a:t>• Perceptual De-Duplication: </a:t>
            </a:r>
            <a:r>
              <a:rPr>
                <a:solidFill>
                  <a:srgbClr val="334155"/>
                </a:solidFill>
              </a:rPr>
              <a:t>Dataset passed through pHash filtering at threshold &lt;= 5 to eliminate web-scraping duplicates and near-identical burst shots.</a:t>
            </a:r>
          </a:p>
          <a:p>
            <a:pPr>
              <a:spcBef>
                <a:spcPts val="800"/>
              </a:spcBef>
              <a:defRPr sz="950"/>
            </a:pPr>
            <a:r>
              <a:rPr>
                <a:solidFill>
                  <a:srgbClr val="0F172A"/>
                </a:solidFill>
              </a:rPr>
              <a:t>• Expert Culinary Auditing: </a:t>
            </a:r>
            <a:r>
              <a:rPr>
                <a:solidFill>
                  <a:srgbClr val="334155"/>
                </a:solidFill>
              </a:rPr>
              <a:t>Each dish verified by native Middle Eastern culinary references to ensure proper labeling of traditional recipes.</a:t>
            </a:r>
          </a:p>
          <a:p>
            <a:pPr>
              <a:spcBef>
                <a:spcPts val="800"/>
              </a:spcBef>
              <a:defRPr sz="950"/>
            </a:pPr>
            <a:r>
              <a:rPr>
                <a:solidFill>
                  <a:srgbClr val="0F172A"/>
                </a:solidFill>
              </a:rPr>
              <a:t>• Multi-Source Ingestion: </a:t>
            </a:r>
            <a:r>
              <a:rPr>
                <a:solidFill>
                  <a:srgbClr val="334155"/>
                </a:solidFill>
              </a:rPr>
              <a:t>Combines professional food photography, social media food captures, and raw unedited restaurant photos.</a:t>
            </a:r>
          </a:p>
        </p:txBody>
      </p:sp>
      <p:sp>
        <p:nvSpPr>
          <p:cNvPr id="6" name="Rounded Rectangle 5"/>
          <p:cNvSpPr/>
          <p:nvPr/>
        </p:nvSpPr>
        <p:spPr>
          <a:xfrm>
            <a:off x="4425696"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828800"/>
            <a:ext cx="2962656" cy="4114800"/>
          </a:xfrm>
          <a:prstGeom prst="rect">
            <a:avLst/>
          </a:prstGeom>
          <a:noFill/>
        </p:spPr>
        <p:txBody>
          <a:bodyPr wrap="square">
            <a:spAutoFit/>
          </a:bodyPr>
          <a:lstStyle/>
          <a:p>
            <a:pPr>
              <a:defRPr b="1" sz="1300">
                <a:solidFill>
                  <a:srgbClr val="10B981"/>
                </a:solidFill>
              </a:defRPr>
            </a:pPr>
            <a:r>
              <a:t>🌍 DIVERSITY &amp; REPRESENTATIVENESS</a:t>
            </a:r>
          </a:p>
          <a:p>
            <a:pPr>
              <a:spcBef>
                <a:spcPts val="800"/>
              </a:spcBef>
              <a:defRPr sz="950"/>
            </a:pPr>
            <a:r>
              <a:rPr>
                <a:solidFill>
                  <a:srgbClr val="0F172A"/>
                </a:solidFill>
              </a:rPr>
              <a:t>• Culinary Taxonomy Spread: </a:t>
            </a:r>
            <a:r>
              <a:rPr>
                <a:solidFill>
                  <a:srgbClr val="334155"/>
                </a:solidFill>
              </a:rPr>
              <a:t>Covers 15 distinct dish varieties ranging from baked pastries and flatbreads to cold legume dips and warm vegetable stews.</a:t>
            </a:r>
          </a:p>
          <a:p>
            <a:pPr>
              <a:spcBef>
                <a:spcPts val="800"/>
              </a:spcBef>
              <a:defRPr sz="950"/>
            </a:pPr>
            <a:r>
              <a:rPr>
                <a:solidFill>
                  <a:srgbClr val="0F172A"/>
                </a:solidFill>
              </a:rPr>
              <a:t>• Lighting &amp; Presentation Variations: </a:t>
            </a:r>
            <a:r>
              <a:rPr>
                <a:solidFill>
                  <a:srgbClr val="334155"/>
                </a:solidFill>
              </a:rPr>
              <a:t>Includes studio-lit promotional shots, smartphone casual shots under warm indoor LEDs, and harsh restaurant halogen lighting.</a:t>
            </a:r>
          </a:p>
          <a:p>
            <a:pPr>
              <a:spcBef>
                <a:spcPts val="800"/>
              </a:spcBef>
              <a:defRPr sz="950"/>
            </a:pPr>
            <a:r>
              <a:rPr>
                <a:solidFill>
                  <a:srgbClr val="0F172A"/>
                </a:solidFill>
              </a:rPr>
              <a:t>• Angle Diversity: </a:t>
            </a:r>
            <a:r>
              <a:rPr>
                <a:solidFill>
                  <a:srgbClr val="334155"/>
                </a:solidFill>
              </a:rPr>
              <a:t>Overhead flat-lays (top-down 90°), 45° dining perspectives, and macro surface texture close-ups.</a:t>
            </a:r>
          </a:p>
        </p:txBody>
      </p:sp>
      <p:sp>
        <p:nvSpPr>
          <p:cNvPr id="8" name="Rounded Rectangle 7"/>
          <p:cNvSpPr/>
          <p:nvPr/>
        </p:nvSpPr>
        <p:spPr>
          <a:xfrm>
            <a:off x="8119872"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28800"/>
            <a:ext cx="2962656" cy="4114800"/>
          </a:xfrm>
          <a:prstGeom prst="rect">
            <a:avLst/>
          </a:prstGeom>
          <a:noFill/>
        </p:spPr>
        <p:txBody>
          <a:bodyPr wrap="square">
            <a:spAutoFit/>
          </a:bodyPr>
          <a:lstStyle/>
          <a:p>
            <a:pPr>
              <a:defRPr b="1" sz="1300">
                <a:solidFill>
                  <a:srgbClr val="D97706"/>
                </a:solidFill>
              </a:defRPr>
            </a:pPr>
            <a:r>
              <a:t>⚠️ INHERENT RGB LIMITATIONS</a:t>
            </a:r>
          </a:p>
          <a:p>
            <a:pPr>
              <a:spcBef>
                <a:spcPts val="800"/>
              </a:spcBef>
              <a:defRPr sz="950"/>
            </a:pPr>
            <a:r>
              <a:rPr>
                <a:solidFill>
                  <a:srgbClr val="0F172A"/>
                </a:solidFill>
              </a:rPr>
              <a:t>• Surface-Only Information: </a:t>
            </a:r>
            <a:r>
              <a:rPr>
                <a:solidFill>
                  <a:srgbClr val="334155"/>
                </a:solidFill>
              </a:rPr>
              <a:t>A 2D RGB image captures reflected visible light wavelengths only. It cannot infer chemical composition or taste.</a:t>
            </a:r>
          </a:p>
          <a:p>
            <a:pPr>
              <a:spcBef>
                <a:spcPts val="800"/>
              </a:spcBef>
              <a:defRPr sz="950"/>
            </a:pPr>
            <a:r>
              <a:rPr>
                <a:solidFill>
                  <a:srgbClr val="0F172A"/>
                </a:solidFill>
              </a:rPr>
              <a:t>• Liquid Dissolution: </a:t>
            </a:r>
            <a:r>
              <a:rPr>
                <a:solidFill>
                  <a:srgbClr val="334155"/>
                </a:solidFill>
              </a:rPr>
              <a:t>Melted animal butterfat (samneh) and vegetable oil look virtually identical in pixel intensity and specular reflectance.</a:t>
            </a:r>
          </a:p>
          <a:p>
            <a:pPr>
              <a:spcBef>
                <a:spcPts val="800"/>
              </a:spcBef>
              <a:defRPr sz="950"/>
            </a:pPr>
            <a:r>
              <a:rPr>
                <a:solidFill>
                  <a:srgbClr val="0F172A"/>
                </a:solidFill>
              </a:rPr>
              <a:t>• Sample Size Constraints: </a:t>
            </a:r>
            <a:r>
              <a:rPr>
                <a:solidFill>
                  <a:srgbClr val="334155"/>
                </a:solidFill>
              </a:rPr>
              <a:t>704 images across 15 classes provides ~47 images per category, sufficient for transfer learning but susceptible to small sample noise.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E3A8A"/>
                </a:solidFill>
                <a:latin typeface="Segoe UI"/>
              </a:defRPr>
            </a:pPr>
            <a:r>
              <a:t>SECTION 07 · TECHNICAL LIMITATIONS</a:t>
            </a:r>
          </a:p>
          <a:p>
            <a:pPr>
              <a:spcBef>
                <a:spcPts val="200"/>
              </a:spcBef>
              <a:defRPr sz="2200" b="1">
                <a:solidFill>
                  <a:srgbClr val="0F172A"/>
                </a:solidFill>
                <a:latin typeface="Segoe UI"/>
              </a:defRPr>
            </a:pPr>
            <a:r>
              <a:t>Why 100% Accuracy Cannot Be Achieved (Part 1)</a:t>
            </a:r>
          </a:p>
          <a:p>
            <a:pPr>
              <a:spcBef>
                <a:spcPts val="200"/>
              </a:spcBef>
              <a:defRPr sz="1100">
                <a:solidFill>
                  <a:srgbClr val="64748B"/>
                </a:solidFill>
                <a:latin typeface="Segoe UI"/>
              </a:defRPr>
            </a:pPr>
            <a:r>
              <a:t>Fundamental physical, optical, and culinary constraints capping visual classification accuracy</a:t>
            </a:r>
          </a:p>
        </p:txBody>
      </p:sp>
      <p:sp>
        <p:nvSpPr>
          <p:cNvPr id="3" name="TextBox 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latin typeface="Segoe UI"/>
              </a:defRPr>
            </a:pPr>
            <a:r>
              <a:t>DishDetect SA  ·  Vegan vs. Vegetarian Deep Learning Research  ·  Slide 10 of 15</a:t>
            </a:r>
          </a:p>
        </p:txBody>
      </p:sp>
      <p:sp>
        <p:nvSpPr>
          <p:cNvPr id="4" name="Rounded Rectangle 3"/>
          <p:cNvSpPr/>
          <p:nvPr/>
        </p:nvSpPr>
        <p:spPr>
          <a:xfrm>
            <a:off x="731520" y="1645920"/>
            <a:ext cx="3328416" cy="4480560"/>
          </a:xfrm>
          <a:prstGeom prst="roundRect">
            <a:avLst/>
          </a:prstGeom>
          <a:solidFill>
            <a:srgbClr val="FFF1F2"/>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62656" cy="4114800"/>
          </a:xfrm>
          <a:prstGeom prst="rect">
            <a:avLst/>
          </a:prstGeom>
          <a:noFill/>
        </p:spPr>
        <p:txBody>
          <a:bodyPr wrap="square">
            <a:spAutoFit/>
          </a:bodyPr>
          <a:lstStyle/>
          <a:p>
            <a:pPr>
              <a:defRPr b="1" sz="1250">
                <a:solidFill>
                  <a:srgbClr val="E11D48"/>
                </a:solidFill>
              </a:defRPr>
            </a:pPr>
            <a:r>
              <a:t>🥟 1. IDENTICAL DOUGH ENCLOSURES</a:t>
            </a:r>
          </a:p>
          <a:p>
            <a:pPr>
              <a:spcBef>
                <a:spcPts val="800"/>
              </a:spcBef>
              <a:defRPr sz="1000">
                <a:solidFill>
                  <a:srgbClr val="334155"/>
                </a:solidFill>
              </a:defRPr>
            </a:pPr>
            <a:r>
              <a:t>Visual Parity in Pastry Crusts:</a:t>
            </a:r>
            <a:br/>
            <a:r>
              <a:t>Spinach Fatayer (100% Vegan) and Cheese Fatayer (Lacto-Vegetarian) share identical flour-water-yeast outer dough.</a:t>
            </a:r>
          </a:p>
          <a:p>
            <a:pPr>
              <a:spcBef>
                <a:spcPts val="800"/>
              </a:spcBef>
              <a:defRPr sz="1000">
                <a:solidFill>
                  <a:srgbClr val="334155"/>
                </a:solidFill>
              </a:defRPr>
            </a:pPr>
            <a:r>
              <a:t>The Occlusion Bottleneck:</a:t>
            </a:r>
            <a:br/>
            <a:r>
              <a:t>When the pastry is baked closed or folded, the filling is physically occluded. A photon cannot penetrate the golden baked crust. Any model forced to classify an unopened pastry must guess based on slight fold shapes.</a:t>
            </a:r>
          </a:p>
        </p:txBody>
      </p:sp>
      <p:sp>
        <p:nvSpPr>
          <p:cNvPr id="6" name="Rounded Rectangle 5"/>
          <p:cNvSpPr/>
          <p:nvPr/>
        </p:nvSpPr>
        <p:spPr>
          <a:xfrm>
            <a:off x="4425696" y="1645920"/>
            <a:ext cx="3328416" cy="4480560"/>
          </a:xfrm>
          <a:prstGeom prst="roundRect">
            <a:avLst/>
          </a:prstGeom>
          <a:solidFill>
            <a:srgbClr val="FFF1F2"/>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828800"/>
            <a:ext cx="2962656" cy="4114800"/>
          </a:xfrm>
          <a:prstGeom prst="rect">
            <a:avLst/>
          </a:prstGeom>
          <a:noFill/>
        </p:spPr>
        <p:txBody>
          <a:bodyPr wrap="square">
            <a:spAutoFit/>
          </a:bodyPr>
          <a:lstStyle/>
          <a:p>
            <a:pPr>
              <a:defRPr b="1" sz="1250">
                <a:solidFill>
                  <a:srgbClr val="E11D48"/>
                </a:solidFill>
              </a:defRPr>
            </a:pPr>
            <a:r>
              <a:t>🥛 2. MOLECULAR DISSOLUTION &amp; EGGS</a:t>
            </a:r>
          </a:p>
          <a:p>
            <a:pPr>
              <a:spcBef>
                <a:spcPts val="800"/>
              </a:spcBef>
              <a:defRPr sz="1000">
                <a:solidFill>
                  <a:srgbClr val="334155"/>
                </a:solidFill>
              </a:defRPr>
            </a:pPr>
            <a:r>
              <a:t>Absorbed Animal Byproducts:</a:t>
            </a:r>
            <a:br/>
            <a:r>
              <a:t>In dishes like Saffron Cake, whole eggs and sweetened condensed milk are baked directly into the crumb matrix.</a:t>
            </a:r>
          </a:p>
          <a:p>
            <a:pPr>
              <a:spcBef>
                <a:spcPts val="800"/>
              </a:spcBef>
              <a:defRPr sz="1000">
                <a:solidFill>
                  <a:srgbClr val="334155"/>
                </a:solidFill>
              </a:defRPr>
            </a:pPr>
            <a:r>
              <a:t>Invisible Fat Indicators:</a:t>
            </a:r>
            <a:br/>
            <a:r>
              <a:t>Authentic Saudi Tamriya pan-roasts date paste in clarified butter (samneh). Chemically, animal butterfat differs sharply from olive oil, but optically, both produce an identical glossy surface sheen.</a:t>
            </a:r>
          </a:p>
        </p:txBody>
      </p:sp>
      <p:sp>
        <p:nvSpPr>
          <p:cNvPr id="8" name="Rounded Rectangle 7"/>
          <p:cNvSpPr/>
          <p:nvPr/>
        </p:nvSpPr>
        <p:spPr>
          <a:xfrm>
            <a:off x="8119872" y="1645920"/>
            <a:ext cx="3328416" cy="4480560"/>
          </a:xfrm>
          <a:prstGeom prst="roundRect">
            <a:avLst/>
          </a:prstGeom>
          <a:solidFill>
            <a:srgbClr val="FFF1F2"/>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28800"/>
            <a:ext cx="2962656" cy="4114800"/>
          </a:xfrm>
          <a:prstGeom prst="rect">
            <a:avLst/>
          </a:prstGeom>
          <a:noFill/>
        </p:spPr>
        <p:txBody>
          <a:bodyPr wrap="square">
            <a:spAutoFit/>
          </a:bodyPr>
          <a:lstStyle/>
          <a:p>
            <a:pPr>
              <a:defRPr b="1" sz="1250">
                <a:solidFill>
                  <a:srgbClr val="E11D48"/>
                </a:solidFill>
              </a:defRPr>
            </a:pPr>
            <a:r>
              <a:t>🏷️ 3. RECIPE AMBIGUITY &amp; LABEL NOISE</a:t>
            </a:r>
          </a:p>
          <a:p>
            <a:pPr>
              <a:spcBef>
                <a:spcPts val="800"/>
              </a:spcBef>
              <a:defRPr sz="1000">
                <a:solidFill>
                  <a:srgbClr val="334155"/>
                </a:solidFill>
              </a:defRPr>
            </a:pPr>
            <a:r>
              <a:t>Chef &amp; Restaurant Idiosyncrasies:</a:t>
            </a:r>
            <a:br/>
            <a:r>
              <a:t>Different restaurants alter traditional formulations without visual indicators:</a:t>
            </a:r>
          </a:p>
          <a:p>
            <a:pPr>
              <a:spcBef>
                <a:spcPts val="800"/>
              </a:spcBef>
              <a:defRPr sz="950">
                <a:solidFill>
                  <a:srgbClr val="334155"/>
                </a:solidFill>
              </a:defRPr>
            </a:pPr>
            <a:r>
              <a:t>• Chef A brushes Tamees bread with melted butter before baking (turning it Vegetarian).</a:t>
            </a:r>
            <a:br/>
            <a:r>
              <a:t>• Chef B uses pure vegetable oil (making it Vegan).</a:t>
            </a:r>
            <a:br/>
            <a:r>
              <a:t>• Chef C adds a dollop of yogurt into Hummus for creaminess, invisible under olive oil garnish.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E3A8A"/>
                </a:solidFill>
                <a:latin typeface="Segoe UI"/>
              </a:defRPr>
            </a:pPr>
            <a:r>
              <a:t>SECTION 07 · TECHNICAL LIMITATIONS (CONT.)</a:t>
            </a:r>
          </a:p>
          <a:p>
            <a:pPr>
              <a:spcBef>
                <a:spcPts val="200"/>
              </a:spcBef>
              <a:defRPr sz="2200" b="1">
                <a:solidFill>
                  <a:srgbClr val="0F172A"/>
                </a:solidFill>
                <a:latin typeface="Segoe UI"/>
              </a:defRPr>
            </a:pPr>
            <a:r>
              <a:t>Why 100% Accuracy Cannot Be Achieved (Part 2)</a:t>
            </a:r>
          </a:p>
          <a:p>
            <a:pPr>
              <a:spcBef>
                <a:spcPts val="200"/>
              </a:spcBef>
              <a:defRPr sz="1100">
                <a:solidFill>
                  <a:srgbClr val="64748B"/>
                </a:solidFill>
                <a:latin typeface="Segoe UI"/>
              </a:defRPr>
            </a:pPr>
            <a:r>
              <a:t>Model architecture, optical artifacts, domain shift, and theoretical mathematical bounds</a:t>
            </a:r>
          </a:p>
        </p:txBody>
      </p:sp>
      <p:sp>
        <p:nvSpPr>
          <p:cNvPr id="3" name="TextBox 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latin typeface="Segoe UI"/>
              </a:defRPr>
            </a:pPr>
            <a:r>
              <a:t>DishDetect SA  ·  Vegan vs. Vegetarian Deep Learning Research  ·  Slide 11 of 15</a:t>
            </a:r>
          </a:p>
        </p:txBody>
      </p:sp>
      <p:graphicFrame>
        <p:nvGraphicFramePr>
          <p:cNvPr id="4" name="Table 3"/>
          <p:cNvGraphicFramePr>
            <a:graphicFrameLocks noGrp="1"/>
          </p:cNvGraphicFramePr>
          <p:nvPr/>
        </p:nvGraphicFramePr>
        <p:xfrm>
          <a:off x="731520" y="1645920"/>
          <a:ext cx="10698480" cy="3108960"/>
        </p:xfrm>
        <a:graphic>
          <a:graphicData uri="http://schemas.openxmlformats.org/drawingml/2006/table">
            <a:tbl>
              <a:tblPr firstRow="1" bandRow="1">
                <a:tableStyleId>{5C22544A-7EE6-4342-B048-85BDC9FD1C3A}</a:tableStyleId>
              </a:tblPr>
              <a:tblGrid>
                <a:gridCol w="2194560"/>
                <a:gridCol w="3291840"/>
                <a:gridCol w="3108960"/>
                <a:gridCol w="2103120"/>
              </a:tblGrid>
              <a:tr h="518160">
                <a:tc>
                  <a:txBody>
                    <a:bodyPr wrap="square"/>
                    <a:lstStyle/>
                    <a:p>
                      <a:pPr algn="ctr">
                        <a:defRPr sz="1000" b="1">
                          <a:solidFill>
                            <a:srgbClr val="FFFFFF"/>
                          </a:solidFill>
                          <a:latin typeface="Segoe UI"/>
                        </a:defRPr>
                      </a:pPr>
                      <a:r>
                        <a:t>Limitation Vector</a:t>
                      </a:r>
                    </a:p>
                  </a:txBody>
                  <a:tcPr>
                    <a:solidFill>
                      <a:srgbClr val="1E3A8A"/>
                    </a:solidFill>
                  </a:tcPr>
                </a:tc>
                <a:tc>
                  <a:txBody>
                    <a:bodyPr wrap="square"/>
                    <a:lstStyle/>
                    <a:p>
                      <a:pPr algn="ctr">
                        <a:defRPr sz="1000" b="1">
                          <a:solidFill>
                            <a:srgbClr val="FFFFFF"/>
                          </a:solidFill>
                          <a:latin typeface="Segoe UI"/>
                        </a:defRPr>
                      </a:pPr>
                      <a:r>
                        <a:t>Root Technical Cause</a:t>
                      </a:r>
                    </a:p>
                  </a:txBody>
                  <a:tcPr>
                    <a:solidFill>
                      <a:srgbClr val="1E3A8A"/>
                    </a:solidFill>
                  </a:tcPr>
                </a:tc>
                <a:tc>
                  <a:txBody>
                    <a:bodyPr wrap="square"/>
                    <a:lstStyle/>
                    <a:p>
                      <a:pPr algn="ctr">
                        <a:defRPr sz="1000" b="1">
                          <a:solidFill>
                            <a:srgbClr val="FFFFFF"/>
                          </a:solidFill>
                          <a:latin typeface="Segoe UI"/>
                        </a:defRPr>
                      </a:pPr>
                      <a:r>
                        <a:t>Observed Impact on Models</a:t>
                      </a:r>
                    </a:p>
                  </a:txBody>
                  <a:tcPr>
                    <a:solidFill>
                      <a:srgbClr val="1E3A8A"/>
                    </a:solidFill>
                  </a:tcPr>
                </a:tc>
                <a:tc>
                  <a:txBody>
                    <a:bodyPr wrap="square"/>
                    <a:lstStyle/>
                    <a:p>
                      <a:pPr algn="ctr">
                        <a:defRPr sz="1000" b="1">
                          <a:solidFill>
                            <a:srgbClr val="FFFFFF"/>
                          </a:solidFill>
                          <a:latin typeface="Segoe UI"/>
                        </a:defRPr>
                      </a:pPr>
                      <a:r>
                        <a:t>Theoretical Ceiling</a:t>
                      </a:r>
                    </a:p>
                  </a:txBody>
                  <a:tcPr>
                    <a:solidFill>
                      <a:srgbClr val="1E3A8A"/>
                    </a:solidFill>
                  </a:tcPr>
                </a:tc>
              </a:tr>
              <a:tr h="518160">
                <a:tc>
                  <a:txBody>
                    <a:bodyPr wrap="square"/>
                    <a:lstStyle/>
                    <a:p>
                      <a:pPr algn="l">
                        <a:defRPr sz="950" b="1">
                          <a:solidFill>
                            <a:srgbClr val="0F172A"/>
                          </a:solidFill>
                          <a:latin typeface="Segoe UI"/>
                        </a:defRPr>
                      </a:pPr>
                      <a:r>
                        <a:t>Specular Surface Reflections</a:t>
                      </a:r>
                    </a:p>
                  </a:txBody>
                  <a:tcPr>
                    <a:solidFill>
                      <a:srgbClr val="FFFFFF"/>
                    </a:solidFill>
                  </a:tcPr>
                </a:tc>
                <a:tc>
                  <a:txBody>
                    <a:bodyPr wrap="square"/>
                    <a:lstStyle/>
                    <a:p>
                      <a:pPr algn="ctr">
                        <a:defRPr sz="950">
                          <a:solidFill>
                            <a:srgbClr val="334155"/>
                          </a:solidFill>
                          <a:latin typeface="Segoe UI"/>
                        </a:defRPr>
                      </a:pPr>
                      <a:r>
                        <a:t>Harsh restaurant spotlights reflect off olive oil, mimicking melted Akkawi cheese gloss.</a:t>
                      </a:r>
                    </a:p>
                  </a:txBody>
                  <a:tcPr>
                    <a:solidFill>
                      <a:srgbClr val="FFFFFF"/>
                    </a:solidFill>
                  </a:tcPr>
                </a:tc>
                <a:tc>
                  <a:txBody>
                    <a:bodyPr wrap="square"/>
                    <a:lstStyle/>
                    <a:p>
                      <a:pPr algn="ctr">
                        <a:defRPr sz="950">
                          <a:solidFill>
                            <a:srgbClr val="334155"/>
                          </a:solidFill>
                          <a:latin typeface="Segoe UI"/>
                        </a:defRPr>
                      </a:pPr>
                      <a:r>
                        <a:t>Za'atar Manaqish scored 40% in raw uncropped baseline (misclassified as cheese).</a:t>
                      </a:r>
                    </a:p>
                  </a:txBody>
                  <a:tcPr>
                    <a:solidFill>
                      <a:srgbClr val="FFFFFF"/>
                    </a:solidFill>
                  </a:tcPr>
                </a:tc>
                <a:tc>
                  <a:txBody>
                    <a:bodyPr wrap="square"/>
                    <a:lstStyle/>
                    <a:p>
                      <a:pPr algn="l">
                        <a:defRPr sz="950">
                          <a:solidFill>
                            <a:srgbClr val="334155"/>
                          </a:solidFill>
                          <a:latin typeface="Segoe UI"/>
                        </a:defRPr>
                      </a:pPr>
                      <a:r>
                        <a:t>90% – 95% without polarizers or segmentation.</a:t>
                      </a:r>
                    </a:p>
                  </a:txBody>
                  <a:tcPr>
                    <a:solidFill>
                      <a:srgbClr val="FFFFFF"/>
                    </a:solidFill>
                  </a:tcPr>
                </a:tc>
              </a:tr>
              <a:tr h="518160">
                <a:tc>
                  <a:txBody>
                    <a:bodyPr wrap="square"/>
                    <a:lstStyle/>
                    <a:p>
                      <a:pPr algn="l">
                        <a:defRPr sz="950" b="1">
                          <a:solidFill>
                            <a:srgbClr val="0F172A"/>
                          </a:solidFill>
                          <a:latin typeface="Segoe UI"/>
                        </a:defRPr>
                      </a:pPr>
                      <a:r>
                        <a:t>Food Occlusion &amp; Fold Geometry</a:t>
                      </a:r>
                    </a:p>
                  </a:txBody>
                  <a:tcPr>
                    <a:solidFill>
                      <a:srgbClr val="F8FAFC"/>
                    </a:solidFill>
                  </a:tcPr>
                </a:tc>
                <a:tc>
                  <a:txBody>
                    <a:bodyPr wrap="square"/>
                    <a:lstStyle/>
                    <a:p>
                      <a:pPr algn="ctr">
                        <a:defRPr sz="950">
                          <a:solidFill>
                            <a:srgbClr val="334155"/>
                          </a:solidFill>
                          <a:latin typeface="Segoe UI"/>
                        </a:defRPr>
                      </a:pPr>
                      <a:r>
                        <a:t>Internal fillings enclosed inside dough (Spinach vs Cheese Fatayer).</a:t>
                      </a:r>
                    </a:p>
                  </a:txBody>
                  <a:tcPr>
                    <a:solidFill>
                      <a:srgbClr val="F8FAFC"/>
                    </a:solidFill>
                  </a:tcPr>
                </a:tc>
                <a:tc>
                  <a:txBody>
                    <a:bodyPr wrap="square"/>
                    <a:lstStyle/>
                    <a:p>
                      <a:pPr algn="ctr">
                        <a:defRPr sz="950">
                          <a:solidFill>
                            <a:srgbClr val="334155"/>
                          </a:solidFill>
                          <a:latin typeface="Segoe UI"/>
                        </a:defRPr>
                      </a:pPr>
                      <a:r>
                        <a:t>Test error rate of 27.3% – 60% on closed spinach pastries.</a:t>
                      </a:r>
                    </a:p>
                  </a:txBody>
                  <a:tcPr>
                    <a:solidFill>
                      <a:srgbClr val="F8FAFC"/>
                    </a:solidFill>
                  </a:tcPr>
                </a:tc>
                <a:tc>
                  <a:txBody>
                    <a:bodyPr wrap="square"/>
                    <a:lstStyle/>
                    <a:p>
                      <a:pPr algn="l">
                        <a:defRPr sz="950">
                          <a:solidFill>
                            <a:srgbClr val="334155"/>
                          </a:solidFill>
                          <a:latin typeface="Segoe UI"/>
                        </a:defRPr>
                      </a:pPr>
                      <a:r>
                        <a:t>Cannot exceed 70% – 75% on closed pastries.</a:t>
                      </a:r>
                    </a:p>
                  </a:txBody>
                  <a:tcPr>
                    <a:solidFill>
                      <a:srgbClr val="F8FAFC"/>
                    </a:solidFill>
                  </a:tcPr>
                </a:tc>
              </a:tr>
              <a:tr h="518160">
                <a:tc>
                  <a:txBody>
                    <a:bodyPr wrap="square"/>
                    <a:lstStyle/>
                    <a:p>
                      <a:pPr algn="l">
                        <a:defRPr sz="950" b="1">
                          <a:solidFill>
                            <a:srgbClr val="0F172A"/>
                          </a:solidFill>
                          <a:latin typeface="Segoe UI"/>
                        </a:defRPr>
                      </a:pPr>
                      <a:r>
                        <a:t>Domain Shift &amp; Camera Optics</a:t>
                      </a:r>
                    </a:p>
                  </a:txBody>
                  <a:tcPr>
                    <a:solidFill>
                      <a:srgbClr val="FFFFFF"/>
                    </a:solidFill>
                  </a:tcPr>
                </a:tc>
                <a:tc>
                  <a:txBody>
                    <a:bodyPr wrap="square"/>
                    <a:lstStyle/>
                    <a:p>
                      <a:pPr algn="ctr">
                        <a:defRPr sz="950">
                          <a:solidFill>
                            <a:srgbClr val="334155"/>
                          </a:solidFill>
                          <a:latin typeface="Segoe UI"/>
                        </a:defRPr>
                      </a:pPr>
                      <a:r>
                        <a:t>Training data from web/smartphones vs. real restaurant dim halogens &amp; ISO noise.</a:t>
                      </a:r>
                    </a:p>
                  </a:txBody>
                  <a:tcPr>
                    <a:solidFill>
                      <a:srgbClr val="FFFFFF"/>
                    </a:solidFill>
                  </a:tcPr>
                </a:tc>
                <a:tc>
                  <a:txBody>
                    <a:bodyPr wrap="square"/>
                    <a:lstStyle/>
                    <a:p>
                      <a:pPr algn="ctr">
                        <a:defRPr sz="950">
                          <a:solidFill>
                            <a:srgbClr val="334155"/>
                          </a:solidFill>
                          <a:latin typeface="Segoe UI"/>
                        </a:defRPr>
                      </a:pPr>
                      <a:r>
                        <a:t>Distribution shift between internet stock photography and restaurant POS captures.</a:t>
                      </a:r>
                    </a:p>
                  </a:txBody>
                  <a:tcPr>
                    <a:solidFill>
                      <a:srgbClr val="FFFFFF"/>
                    </a:solidFill>
                  </a:tcPr>
                </a:tc>
                <a:tc>
                  <a:txBody>
                    <a:bodyPr wrap="square"/>
                    <a:lstStyle/>
                    <a:p>
                      <a:pPr algn="l">
                        <a:defRPr sz="950">
                          <a:solidFill>
                            <a:srgbClr val="334155"/>
                          </a:solidFill>
                          <a:latin typeface="Segoe UI"/>
                        </a:defRPr>
                      </a:pPr>
                      <a:r>
                        <a:t>Limits zero-shot transfer without test-time adaptation.</a:t>
                      </a:r>
                    </a:p>
                  </a:txBody>
                  <a:tcPr>
                    <a:solidFill>
                      <a:srgbClr val="FFFFFF"/>
                    </a:solidFill>
                  </a:tcPr>
                </a:tc>
              </a:tr>
              <a:tr h="518160">
                <a:tc>
                  <a:txBody>
                    <a:bodyPr wrap="square"/>
                    <a:lstStyle/>
                    <a:p>
                      <a:pPr algn="l">
                        <a:defRPr sz="950" b="1">
                          <a:solidFill>
                            <a:srgbClr val="0F172A"/>
                          </a:solidFill>
                          <a:latin typeface="Segoe UI"/>
                        </a:defRPr>
                      </a:pPr>
                      <a:r>
                        <a:t>Sample Size &amp; Rare Categories</a:t>
                      </a:r>
                    </a:p>
                  </a:txBody>
                  <a:tcPr>
                    <a:solidFill>
                      <a:srgbClr val="F8FAFC"/>
                    </a:solidFill>
                  </a:tcPr>
                </a:tc>
                <a:tc>
                  <a:txBody>
                    <a:bodyPr wrap="square"/>
                    <a:lstStyle/>
                    <a:p>
                      <a:pPr algn="ctr">
                        <a:defRPr sz="950">
                          <a:solidFill>
                            <a:srgbClr val="334155"/>
                          </a:solidFill>
                          <a:latin typeface="Segoe UI"/>
                        </a:defRPr>
                      </a:pPr>
                      <a:r>
                        <a:t>Tamriya (13 images) and Pistachio Tamriya (21 images) have smaller support.</a:t>
                      </a:r>
                    </a:p>
                  </a:txBody>
                  <a:tcPr>
                    <a:solidFill>
                      <a:srgbClr val="F8FAFC"/>
                    </a:solidFill>
                  </a:tcPr>
                </a:tc>
                <a:tc>
                  <a:txBody>
                    <a:bodyPr wrap="square"/>
                    <a:lstStyle/>
                    <a:p>
                      <a:pPr algn="ctr">
                        <a:defRPr sz="950">
                          <a:solidFill>
                            <a:srgbClr val="334155"/>
                          </a:solidFill>
                          <a:latin typeface="Segoe UI"/>
                        </a:defRPr>
                      </a:pPr>
                      <a:r>
                        <a:t>Higher sensitivity to individual false negatives during evaluation.</a:t>
                      </a:r>
                    </a:p>
                  </a:txBody>
                  <a:tcPr>
                    <a:solidFill>
                      <a:srgbClr val="F8FAFC"/>
                    </a:solidFill>
                  </a:tcPr>
                </a:tc>
                <a:tc>
                  <a:txBody>
                    <a:bodyPr wrap="square"/>
                    <a:lstStyle/>
                    <a:p>
                      <a:pPr algn="l">
                        <a:defRPr sz="950">
                          <a:solidFill>
                            <a:srgbClr val="334155"/>
                          </a:solidFill>
                          <a:latin typeface="Segoe UI"/>
                        </a:defRPr>
                      </a:pPr>
                      <a:r>
                        <a:t>85% – 90% statistical variance on small classes.</a:t>
                      </a:r>
                    </a:p>
                  </a:txBody>
                  <a:tcPr>
                    <a:solidFill>
                      <a:srgbClr val="F8FAFC"/>
                    </a:solidFill>
                  </a:tcPr>
                </a:tc>
              </a:tr>
              <a:tr h="518160">
                <a:tc>
                  <a:txBody>
                    <a:bodyPr wrap="square"/>
                    <a:lstStyle/>
                    <a:p>
                      <a:pPr algn="l">
                        <a:defRPr sz="950" b="1">
                          <a:solidFill>
                            <a:srgbClr val="0F172A"/>
                          </a:solidFill>
                          <a:latin typeface="Segoe UI"/>
                        </a:defRPr>
                      </a:pPr>
                      <a:r>
                        <a:t>Pretrained Backbone Inductive Bias</a:t>
                      </a:r>
                    </a:p>
                  </a:txBody>
                  <a:tcPr>
                    <a:solidFill>
                      <a:srgbClr val="FFFFFF"/>
                    </a:solidFill>
                  </a:tcPr>
                </a:tc>
                <a:tc>
                  <a:txBody>
                    <a:bodyPr wrap="square"/>
                    <a:lstStyle/>
                    <a:p>
                      <a:pPr algn="ctr">
                        <a:defRPr sz="950">
                          <a:solidFill>
                            <a:srgbClr val="334155"/>
                          </a:solidFill>
                          <a:latin typeface="Segoe UI"/>
                        </a:defRPr>
                      </a:pPr>
                      <a:r>
                        <a:t>MobileNetV3 pretrained on ImageNet-1K (dogs, cars, objects) rather than food textures.</a:t>
                      </a:r>
                    </a:p>
                  </a:txBody>
                  <a:tcPr>
                    <a:solidFill>
                      <a:srgbClr val="FFFFFF"/>
                    </a:solidFill>
                  </a:tcPr>
                </a:tc>
                <a:tc>
                  <a:txBody>
                    <a:bodyPr wrap="square"/>
                    <a:lstStyle/>
                    <a:p>
                      <a:pPr algn="ctr">
                        <a:defRPr sz="950">
                          <a:solidFill>
                            <a:srgbClr val="334155"/>
                          </a:solidFill>
                          <a:latin typeface="Segoe UI"/>
                        </a:defRPr>
                      </a:pPr>
                      <a:r>
                        <a:t>Features prioritize overall object geometry rather than micro-surface dairy emulsion textures.</a:t>
                      </a:r>
                    </a:p>
                  </a:txBody>
                  <a:tcPr>
                    <a:solidFill>
                      <a:srgbClr val="FFFFFF"/>
                    </a:solidFill>
                  </a:tcPr>
                </a:tc>
                <a:tc>
                  <a:txBody>
                    <a:bodyPr wrap="square"/>
                    <a:lstStyle/>
                    <a:p>
                      <a:pPr algn="l">
                        <a:defRPr sz="950">
                          <a:solidFill>
                            <a:srgbClr val="334155"/>
                          </a:solidFill>
                          <a:latin typeface="Segoe UI"/>
                        </a:defRPr>
                      </a:pPr>
                      <a:r>
                        <a:t>Requires domain-specific food pretraining (Food2K).</a:t>
                      </a:r>
                    </a:p>
                  </a:txBody>
                  <a:tcPr>
                    <a:solidFill>
                      <a:srgbClr val="FFFFFF"/>
                    </a:solidFill>
                  </a:tcPr>
                </a:tc>
              </a:tr>
            </a:tbl>
          </a:graphicData>
        </a:graphic>
      </p:graphicFrame>
      <p:sp>
        <p:nvSpPr>
          <p:cNvPr id="5" name="Rounded Rectangle 4"/>
          <p:cNvSpPr/>
          <p:nvPr/>
        </p:nvSpPr>
        <p:spPr>
          <a:xfrm>
            <a:off x="731520" y="5029200"/>
            <a:ext cx="10698480" cy="1097280"/>
          </a:xfrm>
          <a:prstGeom prst="roundRect">
            <a:avLst/>
          </a:prstGeom>
          <a:solidFill>
            <a:srgbClr val="EFF6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138928"/>
            <a:ext cx="10332720" cy="868680"/>
          </a:xfrm>
          <a:prstGeom prst="rect">
            <a:avLst/>
          </a:prstGeom>
          <a:noFill/>
        </p:spPr>
        <p:txBody>
          <a:bodyPr wrap="square">
            <a:spAutoFit/>
          </a:bodyPr>
          <a:lstStyle/>
          <a:p>
            <a:pPr>
              <a:defRPr b="1" sz="1100">
                <a:solidFill>
                  <a:srgbClr val="1E3A8A"/>
                </a:solidFill>
              </a:defRPr>
            </a:pPr>
            <a:r>
              <a:t>💡 ACADEMIC CONSENSUS: IS 100% ACCURACY A REALISTIC TARGET FOR RGB FOOD CLASSIFIERS?</a:t>
            </a:r>
          </a:p>
          <a:p>
            <a:pPr>
              <a:spcBef>
                <a:spcPts val="300"/>
              </a:spcBef>
              <a:defRPr sz="950">
                <a:solidFill>
                  <a:srgbClr val="334155"/>
                </a:solidFill>
              </a:defRPr>
            </a:pPr>
            <a:r>
              <a:t>No. In peer-reviewed computer vision literature (IEEE CVPR, ICCV), 100% accuracy on fine-grained food tasks is universally recognized as impossible without multimodal ingredient metadata or chemical sensors. Because identical visual phenotypes can possess opposing dietary genotypes (e.g., butter vs olive oil bread), the realistic ceiling for visual-only systems is approximately 92% – 96%.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E3A8A"/>
                </a:solidFill>
                <a:latin typeface="Segoe UI"/>
              </a:defRPr>
            </a:pPr>
            <a:r>
              <a:t>SECTION 08 · QUANTITATIVE ERROR ANALYSIS</a:t>
            </a:r>
          </a:p>
          <a:p>
            <a:pPr>
              <a:spcBef>
                <a:spcPts val="200"/>
              </a:spcBef>
              <a:defRPr sz="2200" b="1">
                <a:solidFill>
                  <a:srgbClr val="0F172A"/>
                </a:solidFill>
                <a:latin typeface="Segoe UI"/>
              </a:defRPr>
            </a:pPr>
            <a:r>
              <a:t>Deep Dive: Most Vulnerable Dishes &amp; Failure Modes</a:t>
            </a:r>
          </a:p>
          <a:p>
            <a:pPr>
              <a:spcBef>
                <a:spcPts val="200"/>
              </a:spcBef>
              <a:defRPr sz="1100">
                <a:solidFill>
                  <a:srgbClr val="64748B"/>
                </a:solidFill>
                <a:latin typeface="Segoe UI"/>
              </a:defRPr>
            </a:pPr>
            <a:r>
              <a:t>Quantitative error breakdown from held-out test splits and real restaurant evaluations</a:t>
            </a:r>
          </a:p>
        </p:txBody>
      </p:sp>
      <p:sp>
        <p:nvSpPr>
          <p:cNvPr id="3" name="TextBox 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latin typeface="Segoe UI"/>
              </a:defRPr>
            </a:pPr>
            <a:r>
              <a:t>DishDetect SA  ·  Vegan vs. Vegetarian Deep Learning Research  ·  Slide 12 of 15</a:t>
            </a:r>
          </a:p>
        </p:txBody>
      </p:sp>
      <p:sp>
        <p:nvSpPr>
          <p:cNvPr id="4" name="Rounded Rectangle 3"/>
          <p:cNvSpPr/>
          <p:nvPr/>
        </p:nvSpPr>
        <p:spPr>
          <a:xfrm>
            <a:off x="731520"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2962656" cy="2468880"/>
          </a:xfrm>
          <a:prstGeom prst="rect">
            <a:avLst/>
          </a:prstGeom>
          <a:noFill/>
        </p:spPr>
        <p:txBody>
          <a:bodyPr wrap="square">
            <a:spAutoFit/>
          </a:bodyPr>
          <a:lstStyle/>
          <a:p>
            <a:pPr>
              <a:defRPr b="1" sz="1200">
                <a:solidFill>
                  <a:srgbClr val="E11D48"/>
                </a:solidFill>
              </a:defRPr>
            </a:pPr>
            <a:r>
              <a:t>🥟 CASE 1: SPINACH FATAYER</a:t>
            </a:r>
          </a:p>
          <a:p>
            <a:pPr>
              <a:spcBef>
                <a:spcPts val="300"/>
              </a:spcBef>
              <a:defRPr sz="950" b="1">
                <a:solidFill>
                  <a:srgbClr val="0F172A"/>
                </a:solidFill>
              </a:defRPr>
            </a:pPr>
            <a:r>
              <a:t>Held-Out Test Error: 27.3% – 60.0%</a:t>
            </a:r>
          </a:p>
          <a:p>
            <a:pPr>
              <a:spcBef>
                <a:spcPts val="400"/>
              </a:spcBef>
              <a:defRPr sz="900">
                <a:solidFill>
                  <a:srgbClr val="334155"/>
                </a:solidFill>
              </a:defRPr>
            </a:pPr>
            <a:r>
              <a:t>• True Class: Vegan (Spinach, sumac, olive oil dough).</a:t>
            </a:r>
            <a:br/>
            <a:r>
              <a:t>• Failure: When closed in triangular pastry dough, green spinach filling is hidden. Model defaults to dairy Cheese Fatayer.</a:t>
            </a:r>
          </a:p>
        </p:txBody>
      </p:sp>
      <p:pic>
        <p:nvPicPr>
          <p:cNvPr id="6" name="Picture 5" descr="10_2b07b2.jpg"/>
          <p:cNvPicPr>
            <a:picLocks noChangeAspect="1"/>
          </p:cNvPicPr>
          <p:nvPr/>
        </p:nvPicPr>
        <p:blipFill>
          <a:blip r:embed="rId2"/>
          <a:stretch>
            <a:fillRect/>
          </a:stretch>
        </p:blipFill>
        <p:spPr>
          <a:xfrm>
            <a:off x="914400" y="4389120"/>
            <a:ext cx="1371600" cy="1371600"/>
          </a:xfrm>
          <a:prstGeom prst="rect">
            <a:avLst/>
          </a:prstGeom>
        </p:spPr>
      </p:pic>
      <p:pic>
        <p:nvPicPr>
          <p:cNvPr id="7" name="Picture 6" descr="images (1).jpg"/>
          <p:cNvPicPr>
            <a:picLocks noChangeAspect="1"/>
          </p:cNvPicPr>
          <p:nvPr/>
        </p:nvPicPr>
        <p:blipFill>
          <a:blip r:embed="rId3"/>
          <a:stretch>
            <a:fillRect/>
          </a:stretch>
        </p:blipFill>
        <p:spPr>
          <a:xfrm>
            <a:off x="2468880" y="4389120"/>
            <a:ext cx="1371600" cy="1371600"/>
          </a:xfrm>
          <a:prstGeom prst="rect">
            <a:avLst/>
          </a:prstGeom>
        </p:spPr>
      </p:pic>
      <p:sp>
        <p:nvSpPr>
          <p:cNvPr id="8" name="TextBox 7"/>
          <p:cNvSpPr txBox="1"/>
          <p:nvPr/>
        </p:nvSpPr>
        <p:spPr>
          <a:xfrm>
            <a:off x="914400" y="5806440"/>
            <a:ext cx="2926080" cy="274320"/>
          </a:xfrm>
          <a:prstGeom prst="rect">
            <a:avLst/>
          </a:prstGeom>
          <a:noFill/>
        </p:spPr>
        <p:txBody>
          <a:bodyPr wrap="none">
            <a:spAutoFit/>
          </a:bodyPr>
          <a:lstStyle/>
          <a:p>
            <a:pPr>
              <a:defRPr sz="850">
                <a:solidFill>
                  <a:srgbClr val="64748B"/>
                </a:solidFill>
              </a:defRPr>
            </a:pPr>
            <a:r>
              <a:t>Left: Vegan Spinach  |  Right: Vegetarian Cheese</a:t>
            </a:r>
          </a:p>
        </p:txBody>
      </p:sp>
      <p:sp>
        <p:nvSpPr>
          <p:cNvPr id="9" name="Rounded Rectangle 8"/>
          <p:cNvSpPr/>
          <p:nvPr/>
        </p:nvSpPr>
        <p:spPr>
          <a:xfrm>
            <a:off x="4425696"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1783080"/>
            <a:ext cx="2962656" cy="2468880"/>
          </a:xfrm>
          <a:prstGeom prst="rect">
            <a:avLst/>
          </a:prstGeom>
          <a:noFill/>
        </p:spPr>
        <p:txBody>
          <a:bodyPr wrap="square">
            <a:spAutoFit/>
          </a:bodyPr>
          <a:lstStyle/>
          <a:p>
            <a:pPr>
              <a:defRPr b="1" sz="1200">
                <a:solidFill>
                  <a:srgbClr val="E11D48"/>
                </a:solidFill>
              </a:defRPr>
            </a:pPr>
            <a:r>
              <a:t>🍰 CASE 2: SAFFRON CAKE</a:t>
            </a:r>
          </a:p>
          <a:p>
            <a:pPr>
              <a:spcBef>
                <a:spcPts val="300"/>
              </a:spcBef>
              <a:defRPr sz="950" b="1">
                <a:solidFill>
                  <a:srgbClr val="0F172A"/>
                </a:solidFill>
              </a:defRPr>
            </a:pPr>
            <a:r>
              <a:t>Held-Out Test Error: 37.5%</a:t>
            </a:r>
          </a:p>
          <a:p>
            <a:pPr>
              <a:spcBef>
                <a:spcPts val="400"/>
              </a:spcBef>
              <a:defRPr sz="900">
                <a:solidFill>
                  <a:srgbClr val="334155"/>
                </a:solidFill>
              </a:defRPr>
            </a:pPr>
            <a:r>
              <a:t>• True Class: Vegetarian (Eggs, saffron condensed milk, cream).</a:t>
            </a:r>
            <a:br/>
            <a:r>
              <a:t>• Failure: Eggs &amp; dairy are fully absorbed into crumb. Optically identical to plain plant-based sponge/turmeric bread.</a:t>
            </a:r>
          </a:p>
        </p:txBody>
      </p:sp>
      <p:pic>
        <p:nvPicPr>
          <p:cNvPr id="11" name="Picture 10" descr="10_65b647.jpg"/>
          <p:cNvPicPr>
            <a:picLocks noChangeAspect="1"/>
          </p:cNvPicPr>
          <p:nvPr/>
        </p:nvPicPr>
        <p:blipFill>
          <a:blip r:embed="rId4"/>
          <a:stretch>
            <a:fillRect/>
          </a:stretch>
        </p:blipFill>
        <p:spPr>
          <a:xfrm>
            <a:off x="4937760" y="4389120"/>
            <a:ext cx="2286000" cy="1371600"/>
          </a:xfrm>
          <a:prstGeom prst="rect">
            <a:avLst/>
          </a:prstGeom>
        </p:spPr>
      </p:pic>
      <p:sp>
        <p:nvSpPr>
          <p:cNvPr id="12" name="TextBox 11"/>
          <p:cNvSpPr txBox="1"/>
          <p:nvPr/>
        </p:nvSpPr>
        <p:spPr>
          <a:xfrm>
            <a:off x="4608576" y="5806440"/>
            <a:ext cx="2926080" cy="274320"/>
          </a:xfrm>
          <a:prstGeom prst="rect">
            <a:avLst/>
          </a:prstGeom>
          <a:noFill/>
        </p:spPr>
        <p:txBody>
          <a:bodyPr wrap="none">
            <a:spAutoFit/>
          </a:bodyPr>
          <a:lstStyle/>
          <a:p>
            <a:pPr>
              <a:defRPr sz="850">
                <a:solidFill>
                  <a:srgbClr val="64748B"/>
                </a:solidFill>
              </a:defRPr>
            </a:pPr>
            <a:r>
              <a:t>Vegetarian Saffron Cake: Absorbed dairy &amp; eggs</a:t>
            </a:r>
          </a:p>
        </p:txBody>
      </p:sp>
      <p:sp>
        <p:nvSpPr>
          <p:cNvPr id="13" name="Rounded Rectangle 12"/>
          <p:cNvSpPr/>
          <p:nvPr/>
        </p:nvSpPr>
        <p:spPr>
          <a:xfrm>
            <a:off x="8119872"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783080"/>
            <a:ext cx="2962656" cy="2468880"/>
          </a:xfrm>
          <a:prstGeom prst="rect">
            <a:avLst/>
          </a:prstGeom>
          <a:noFill/>
        </p:spPr>
        <p:txBody>
          <a:bodyPr wrap="square">
            <a:spAutoFit/>
          </a:bodyPr>
          <a:lstStyle/>
          <a:p>
            <a:pPr>
              <a:defRPr b="1" sz="1200">
                <a:solidFill>
                  <a:srgbClr val="10B981"/>
                </a:solidFill>
              </a:defRPr>
            </a:pPr>
            <a:r>
              <a:t>🌿 CASE 3: ZA’ATAR MANAQISH</a:t>
            </a:r>
          </a:p>
          <a:p>
            <a:pPr>
              <a:spcBef>
                <a:spcPts val="300"/>
              </a:spcBef>
              <a:defRPr sz="950" b="1">
                <a:solidFill>
                  <a:srgbClr val="0F172A"/>
                </a:solidFill>
              </a:defRPr>
            </a:pPr>
            <a:r>
              <a:t>Error: 60% Raw ➔ 0% with YOLOv8-Seg</a:t>
            </a:r>
          </a:p>
          <a:p>
            <a:pPr>
              <a:spcBef>
                <a:spcPts val="400"/>
              </a:spcBef>
              <a:defRPr sz="900">
                <a:solidFill>
                  <a:srgbClr val="334155"/>
                </a:solidFill>
              </a:defRPr>
            </a:pPr>
            <a:r>
              <a:t>• True Class: Vegan (Wild thyme, sumac, olive oil flatbread).</a:t>
            </a:r>
            <a:br/>
            <a:r>
              <a:t>• Raw Failure: Spotlight glare on olive oil mimicked melted cheese.</a:t>
            </a:r>
            <a:br/>
            <a:r>
              <a:t>• YOLOv8-Seg Recovery: Tight polygon isolated dark thyme paste, reaching 100% (5/5).</a:t>
            </a:r>
          </a:p>
        </p:txBody>
      </p:sp>
      <p:pic>
        <p:nvPicPr>
          <p:cNvPr id="15" name="Picture 14" descr="schnelles-Rezept-fuer-Manakish.jpg"/>
          <p:cNvPicPr>
            <a:picLocks noChangeAspect="1"/>
          </p:cNvPicPr>
          <p:nvPr/>
        </p:nvPicPr>
        <p:blipFill>
          <a:blip r:embed="rId5"/>
          <a:stretch>
            <a:fillRect/>
          </a:stretch>
        </p:blipFill>
        <p:spPr>
          <a:xfrm>
            <a:off x="8595360" y="4389120"/>
            <a:ext cx="2286000" cy="1371600"/>
          </a:xfrm>
          <a:prstGeom prst="rect">
            <a:avLst/>
          </a:prstGeom>
        </p:spPr>
      </p:pic>
      <p:sp>
        <p:nvSpPr>
          <p:cNvPr id="16" name="TextBox 15"/>
          <p:cNvSpPr txBox="1"/>
          <p:nvPr/>
        </p:nvSpPr>
        <p:spPr>
          <a:xfrm>
            <a:off x="8302752" y="5806440"/>
            <a:ext cx="2926080" cy="274320"/>
          </a:xfrm>
          <a:prstGeom prst="rect">
            <a:avLst/>
          </a:prstGeom>
          <a:noFill/>
        </p:spPr>
        <p:txBody>
          <a:bodyPr wrap="none">
            <a:spAutoFit/>
          </a:bodyPr>
          <a:lstStyle/>
          <a:p>
            <a:pPr>
              <a:defRPr sz="850">
                <a:solidFill>
                  <a:srgbClr val="64748B"/>
                </a:solidFill>
              </a:defRPr>
            </a:pPr>
            <a:r>
              <a:t>Za’atar Manaqish: Oil glare solved by YOLO crop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E3A8A"/>
                </a:solidFill>
                <a:latin typeface="Segoe UI"/>
              </a:defRPr>
            </a:pPr>
            <a:r>
              <a:t>SECTION 09 · STRATEGIC IMPROVEMENTS</a:t>
            </a:r>
          </a:p>
          <a:p>
            <a:pPr>
              <a:spcBef>
                <a:spcPts val="200"/>
              </a:spcBef>
              <a:defRPr sz="2200" b="1">
                <a:solidFill>
                  <a:srgbClr val="0F172A"/>
                </a:solidFill>
                <a:latin typeface="Segoe UI"/>
              </a:defRPr>
            </a:pPr>
            <a:r>
              <a:t>Concrete Strategies to Overcome Visual Ceilings</a:t>
            </a:r>
          </a:p>
          <a:p>
            <a:pPr>
              <a:spcBef>
                <a:spcPts val="200"/>
              </a:spcBef>
              <a:defRPr sz="1100">
                <a:solidFill>
                  <a:srgbClr val="64748B"/>
                </a:solidFill>
                <a:latin typeface="Segoe UI"/>
              </a:defRPr>
            </a:pPr>
            <a:r>
              <a:t>Architectural upgrades, multimodal sensor fusion, and advanced data augmentation techniques</a:t>
            </a:r>
          </a:p>
        </p:txBody>
      </p:sp>
      <p:sp>
        <p:nvSpPr>
          <p:cNvPr id="3" name="TextBox 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latin typeface="Segoe UI"/>
              </a:defRPr>
            </a:pPr>
            <a:r>
              <a:t>DishDetect SA  ·  Vegan vs. Vegetarian Deep Learning Research  ·  Slide 13 of 15</a:t>
            </a:r>
          </a:p>
        </p:txBody>
      </p:sp>
      <p:sp>
        <p:nvSpPr>
          <p:cNvPr id="4" name="Rounded Rectangle 3"/>
          <p:cNvSpPr/>
          <p:nvPr/>
        </p:nvSpPr>
        <p:spPr>
          <a:xfrm>
            <a:off x="731520" y="1645920"/>
            <a:ext cx="512064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754880" cy="1828800"/>
          </a:xfrm>
          <a:prstGeom prst="rect">
            <a:avLst/>
          </a:prstGeom>
          <a:noFill/>
        </p:spPr>
        <p:txBody>
          <a:bodyPr wrap="square">
            <a:spAutoFit/>
          </a:bodyPr>
          <a:lstStyle/>
          <a:p>
            <a:pPr>
              <a:defRPr b="1" sz="1150">
                <a:solidFill>
                  <a:srgbClr val="1E3A8A"/>
                </a:solidFill>
              </a:defRPr>
            </a:pPr>
            <a:r>
              <a:t>1. Vision Transformers &amp; Modern ConvNets</a:t>
            </a:r>
          </a:p>
          <a:p>
            <a:pPr>
              <a:spcBef>
                <a:spcPts val="400"/>
              </a:spcBef>
              <a:defRPr sz="950">
                <a:solidFill>
                  <a:srgbClr val="334155"/>
                </a:solidFill>
              </a:defRPr>
            </a:pPr>
            <a:r>
              <a:t>• Transition from MobileNetV3 to Swin Transformer-V2 or ConvNeXt-Small.</a:t>
            </a:r>
            <a:br/>
            <a:r>
              <a:t>• Shifted-window self-attention captures long-range contextual relationships between pastry crust shape and interior fillings, reducing fatayer misclassification.</a:t>
            </a:r>
          </a:p>
        </p:txBody>
      </p:sp>
      <p:sp>
        <p:nvSpPr>
          <p:cNvPr id="6" name="Rounded Rectangle 5"/>
          <p:cNvSpPr/>
          <p:nvPr/>
        </p:nvSpPr>
        <p:spPr>
          <a:xfrm>
            <a:off x="6309360" y="1645920"/>
            <a:ext cx="5120640" cy="210312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783080"/>
            <a:ext cx="4754880" cy="1828800"/>
          </a:xfrm>
          <a:prstGeom prst="rect">
            <a:avLst/>
          </a:prstGeom>
          <a:noFill/>
        </p:spPr>
        <p:txBody>
          <a:bodyPr wrap="square">
            <a:spAutoFit/>
          </a:bodyPr>
          <a:lstStyle/>
          <a:p>
            <a:pPr>
              <a:defRPr b="1" sz="1150">
                <a:solidFill>
                  <a:srgbClr val="10B981"/>
                </a:solidFill>
              </a:defRPr>
            </a:pPr>
            <a:r>
              <a:t>2. Multimodal Menu &amp; Receipt Text Fusion (OCR)</a:t>
            </a:r>
          </a:p>
          <a:p>
            <a:pPr>
              <a:spcBef>
                <a:spcPts val="400"/>
              </a:spcBef>
              <a:defRPr sz="950">
                <a:solidFill>
                  <a:srgbClr val="334155"/>
                </a:solidFill>
              </a:defRPr>
            </a:pPr>
            <a:r>
              <a:t>• Combine photo inference with restaurant menu text via LayoutLMv3 or Gemini Vision.</a:t>
            </a:r>
            <a:br/>
            <a:r>
              <a:t>• If the text mentions 'Akkawi cheese' or 'Samneh', the model overrides optical ambiguity.</a:t>
            </a:r>
            <a:br/>
            <a:r>
              <a:t>• Solves 100% of the hidden/absorbed ingredient limitation in commercial POS setups.</a:t>
            </a:r>
          </a:p>
        </p:txBody>
      </p:sp>
      <p:sp>
        <p:nvSpPr>
          <p:cNvPr id="8" name="Rounded Rectangle 7"/>
          <p:cNvSpPr/>
          <p:nvPr/>
        </p:nvSpPr>
        <p:spPr>
          <a:xfrm>
            <a:off x="731520" y="4023360"/>
            <a:ext cx="512064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60520"/>
            <a:ext cx="4754880" cy="1828800"/>
          </a:xfrm>
          <a:prstGeom prst="rect">
            <a:avLst/>
          </a:prstGeom>
          <a:noFill/>
        </p:spPr>
        <p:txBody>
          <a:bodyPr wrap="square">
            <a:spAutoFit/>
          </a:bodyPr>
          <a:lstStyle/>
          <a:p>
            <a:pPr>
              <a:defRPr b="1" sz="1150">
                <a:solidFill>
                  <a:srgbClr val="1E3A8A"/>
                </a:solidFill>
              </a:defRPr>
            </a:pPr>
            <a:r>
              <a:t>3. Glare-Resistant Augmentation &amp; CutMix</a:t>
            </a:r>
          </a:p>
          <a:p>
            <a:pPr>
              <a:spcBef>
                <a:spcPts val="400"/>
              </a:spcBef>
              <a:defRPr sz="950">
                <a:solidFill>
                  <a:srgbClr val="334155"/>
                </a:solidFill>
              </a:defRPr>
            </a:pPr>
            <a:r>
              <a:t>• Implement RandAugment with Photometric Distortions, Specular Glare Injection, and Random Shadow generation during training.</a:t>
            </a:r>
            <a:br/>
            <a:r>
              <a:t>• Forces CNN backbones to become invariant to restaurant lighting reflections on olive oil.</a:t>
            </a:r>
          </a:p>
        </p:txBody>
      </p:sp>
      <p:sp>
        <p:nvSpPr>
          <p:cNvPr id="10" name="Rounded Rectangle 9"/>
          <p:cNvSpPr/>
          <p:nvPr/>
        </p:nvSpPr>
        <p:spPr>
          <a:xfrm>
            <a:off x="6309360" y="4023360"/>
            <a:ext cx="512064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160520"/>
            <a:ext cx="4754880" cy="1828800"/>
          </a:xfrm>
          <a:prstGeom prst="rect">
            <a:avLst/>
          </a:prstGeom>
          <a:noFill/>
        </p:spPr>
        <p:txBody>
          <a:bodyPr wrap="square">
            <a:spAutoFit/>
          </a:bodyPr>
          <a:lstStyle/>
          <a:p>
            <a:pPr>
              <a:defRPr b="1" sz="1150">
                <a:solidFill>
                  <a:srgbClr val="1E3A8A"/>
                </a:solidFill>
              </a:defRPr>
            </a:pPr>
            <a:r>
              <a:t>4. Dual-Head Multi-Task Learning</a:t>
            </a:r>
          </a:p>
          <a:p>
            <a:pPr>
              <a:spcBef>
                <a:spcPts val="400"/>
              </a:spcBef>
              <a:defRPr sz="950">
                <a:solidFill>
                  <a:srgbClr val="334155"/>
                </a:solidFill>
              </a:defRPr>
            </a:pPr>
            <a:r>
              <a:t>• Head A: 15-class dish classification (e.g., Za'atar vs Cheese Fatayer).</a:t>
            </a:r>
            <a:br/>
            <a:r>
              <a:t>• Head B: Binary Vegan vs Vegetarian prediction.</a:t>
            </a:r>
            <a:br/>
            <a:r>
              <a:t>• Sharing the backbone forces the network to learn rich culinary representations before making dietary judgments.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E3A8A"/>
                </a:solidFill>
                <a:latin typeface="Segoe UI"/>
              </a:defRPr>
            </a:pPr>
            <a:r>
              <a:t>SECTION 10 · RESULTS &amp; FUTURE ROADMAP</a:t>
            </a:r>
          </a:p>
          <a:p>
            <a:pPr>
              <a:spcBef>
                <a:spcPts val="200"/>
              </a:spcBef>
              <a:defRPr sz="2200" b="1">
                <a:solidFill>
                  <a:srgbClr val="0F172A"/>
                </a:solidFill>
                <a:latin typeface="Segoe UI"/>
              </a:defRPr>
            </a:pPr>
            <a:r>
              <a:t>Project Results Summary &amp; Long-Term Research Scope</a:t>
            </a:r>
          </a:p>
          <a:p>
            <a:pPr>
              <a:spcBef>
                <a:spcPts val="200"/>
              </a:spcBef>
              <a:defRPr sz="1100">
                <a:solidFill>
                  <a:srgbClr val="64748B"/>
                </a:solidFill>
                <a:latin typeface="Segoe UI"/>
              </a:defRPr>
            </a:pPr>
            <a:r>
              <a:t>Consolidation of milestones achieved and strategic vision for commercial deployment</a:t>
            </a:r>
          </a:p>
        </p:txBody>
      </p:sp>
      <p:sp>
        <p:nvSpPr>
          <p:cNvPr id="3" name="TextBox 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latin typeface="Segoe UI"/>
              </a:defRPr>
            </a:pPr>
            <a:r>
              <a:t>DishDetect SA  ·  Vegan vs. Vegetarian Deep Learning Research  ·  Slide 14 of 15</a:t>
            </a:r>
          </a:p>
        </p:txBody>
      </p:sp>
      <p:sp>
        <p:nvSpPr>
          <p:cNvPr id="4" name="Rounded Rectangle 3"/>
          <p:cNvSpPr/>
          <p:nvPr/>
        </p:nvSpPr>
        <p:spPr>
          <a:xfrm>
            <a:off x="731520" y="1645920"/>
            <a:ext cx="512064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114800"/>
          </a:xfrm>
          <a:prstGeom prst="rect">
            <a:avLst/>
          </a:prstGeom>
          <a:noFill/>
        </p:spPr>
        <p:txBody>
          <a:bodyPr wrap="square">
            <a:spAutoFit/>
          </a:bodyPr>
          <a:lstStyle/>
          <a:p>
            <a:pPr>
              <a:defRPr b="1" sz="1300">
                <a:solidFill>
                  <a:srgbClr val="1E3A8A"/>
                </a:solidFill>
              </a:defRPr>
            </a:pPr>
            <a:r>
              <a:t>📊 PROJECT MILESTONES ACHIEVED</a:t>
            </a:r>
          </a:p>
          <a:p>
            <a:pPr>
              <a:spcBef>
                <a:spcPts val="800"/>
              </a:spcBef>
              <a:defRPr sz="950"/>
            </a:pPr>
            <a:r>
              <a:rPr>
                <a:solidFill>
                  <a:srgbClr val="10B981"/>
                </a:solidFill>
              </a:rPr>
              <a:t>✔ Zero Meat Leakage: </a:t>
            </a:r>
            <a:r>
              <a:rPr>
                <a:solidFill>
                  <a:srgbClr val="334155"/>
                </a:solidFill>
              </a:rPr>
              <a:t>Completely isolated the meatless cohort of 15 Middle Eastern dishes, establishing a rigorous benchmark for subtle dairy discrimination.</a:t>
            </a:r>
          </a:p>
          <a:p>
            <a:pPr>
              <a:spcBef>
                <a:spcPts val="800"/>
              </a:spcBef>
              <a:defRPr sz="950"/>
            </a:pPr>
            <a:r>
              <a:rPr>
                <a:solidFill>
                  <a:srgbClr val="10B981"/>
                </a:solidFill>
              </a:rPr>
              <a:t>✔ High Held-Out Generalization: </a:t>
            </a:r>
            <a:r>
              <a:rPr>
                <a:solidFill>
                  <a:srgbClr val="334155"/>
                </a:solidFill>
              </a:rPr>
              <a:t>Achieved 85.58% test accuracy, 91.1% vegan precision, and 88.4% vegetarian recall on unseen photos.</a:t>
            </a:r>
          </a:p>
          <a:p>
            <a:pPr>
              <a:spcBef>
                <a:spcPts val="800"/>
              </a:spcBef>
              <a:defRPr sz="950"/>
            </a:pPr>
            <a:r>
              <a:rPr>
                <a:solidFill>
                  <a:srgbClr val="10B981"/>
                </a:solidFill>
              </a:rPr>
              <a:t>✔ Commercial Restaurant Viability: </a:t>
            </a:r>
            <a:r>
              <a:rPr>
                <a:solidFill>
                  <a:srgbClr val="334155"/>
                </a:solidFill>
              </a:rPr>
              <a:t>YOLOv8-Seg polygon cropping propelled restaurant accuracy from 83.33% to 95.83% (+12.50% jump).</a:t>
            </a:r>
          </a:p>
          <a:p>
            <a:pPr>
              <a:spcBef>
                <a:spcPts val="800"/>
              </a:spcBef>
              <a:defRPr sz="950"/>
            </a:pPr>
            <a:r>
              <a:rPr>
                <a:solidFill>
                  <a:srgbClr val="10B981"/>
                </a:solidFill>
              </a:rPr>
              <a:t>✔ Ultra-Lightweight Edge Footprint: </a:t>
            </a:r>
            <a:r>
              <a:rPr>
                <a:solidFill>
                  <a:srgbClr val="334155"/>
                </a:solidFill>
              </a:rPr>
              <a:t>MobileNetV3 backbone requires only 16.8 MB of memory, executing in ~3.2ms on GPU/MPS and &lt;15ms on mobile CPUs.</a:t>
            </a:r>
          </a:p>
          <a:p>
            <a:pPr>
              <a:spcBef>
                <a:spcPts val="800"/>
              </a:spcBef>
              <a:defRPr sz="950"/>
            </a:pPr>
            <a:r>
              <a:rPr>
                <a:solidFill>
                  <a:srgbClr val="10B981"/>
                </a:solidFill>
              </a:rPr>
              <a:t>✔ Fully Reproducible Standalone Package: </a:t>
            </a:r>
            <a:r>
              <a:rPr>
                <a:solidFill>
                  <a:srgbClr val="334155"/>
                </a:solidFill>
              </a:rPr>
              <a:t>Published as Vegan_vs_Vegetarian_Classifier/ with complete weights, evaluators, and CLI tools.</a:t>
            </a:r>
          </a:p>
        </p:txBody>
      </p:sp>
      <p:sp>
        <p:nvSpPr>
          <p:cNvPr id="6" name="Rounded Rectangle 5"/>
          <p:cNvSpPr/>
          <p:nvPr/>
        </p:nvSpPr>
        <p:spPr>
          <a:xfrm>
            <a:off x="6309360" y="1645920"/>
            <a:ext cx="512064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754880" cy="4114800"/>
          </a:xfrm>
          <a:prstGeom prst="rect">
            <a:avLst/>
          </a:prstGeom>
          <a:noFill/>
        </p:spPr>
        <p:txBody>
          <a:bodyPr wrap="square">
            <a:spAutoFit/>
          </a:bodyPr>
          <a:lstStyle/>
          <a:p>
            <a:pPr>
              <a:defRPr b="1" sz="1300">
                <a:solidFill>
                  <a:srgbClr val="1E3A8A"/>
                </a:solidFill>
              </a:defRPr>
            </a:pPr>
            <a:r>
              <a:t>🚀 FUTURE RESEARCH ROADMAP</a:t>
            </a:r>
          </a:p>
          <a:p>
            <a:pPr>
              <a:spcBef>
                <a:spcPts val="800"/>
              </a:spcBef>
              <a:defRPr sz="950"/>
            </a:pPr>
            <a:r>
              <a:rPr>
                <a:solidFill>
                  <a:srgbClr val="1E3A8A"/>
                </a:solidFill>
              </a:rPr>
              <a:t>➔ Phase 1: Dataset Expansion to 2,500 Images: </a:t>
            </a:r>
            <a:r>
              <a:rPr>
                <a:solidFill>
                  <a:srgbClr val="334155"/>
                </a:solidFill>
              </a:rPr>
              <a:t>Collect 150+ verified samples per dish across varied regional cooking traditions (Saudi, Levantine, Egyptian).</a:t>
            </a:r>
          </a:p>
          <a:p>
            <a:pPr>
              <a:spcBef>
                <a:spcPts val="800"/>
              </a:spcBef>
              <a:defRPr sz="950"/>
            </a:pPr>
            <a:r>
              <a:rPr>
                <a:solidFill>
                  <a:srgbClr val="1E3A8A"/>
                </a:solidFill>
              </a:rPr>
              <a:t>➔ Phase 2: Cut-Open Pastry Training Data: </a:t>
            </a:r>
            <a:r>
              <a:rPr>
                <a:solidFill>
                  <a:srgbClr val="334155"/>
                </a:solidFill>
              </a:rPr>
              <a:t>Collect paired imagery of closed pastries alongside sliced/cut-open views showing interior spinach vs cheese.</a:t>
            </a:r>
          </a:p>
          <a:p>
            <a:pPr>
              <a:spcBef>
                <a:spcPts val="800"/>
              </a:spcBef>
              <a:defRPr sz="950"/>
            </a:pPr>
            <a:r>
              <a:rPr>
                <a:solidFill>
                  <a:srgbClr val="1E3A8A"/>
                </a:solidFill>
              </a:rPr>
              <a:t>➔ Phase 3: Real-Time Mobile App Deployment: </a:t>
            </a:r>
            <a:r>
              <a:rPr>
                <a:solidFill>
                  <a:srgbClr val="334155"/>
                </a:solidFill>
              </a:rPr>
              <a:t>Package YOLOv8-Seg + MobileNetV3 into an on-device iOS CoreML and Android TFLite application with camera stream inference.</a:t>
            </a:r>
          </a:p>
          <a:p>
            <a:pPr>
              <a:spcBef>
                <a:spcPts val="800"/>
              </a:spcBef>
              <a:defRPr sz="950"/>
            </a:pPr>
            <a:r>
              <a:rPr>
                <a:solidFill>
                  <a:srgbClr val="1E3A8A"/>
                </a:solidFill>
              </a:rPr>
              <a:t>➔ Phase 4: Near-Infrared (NIR) Smartphone Sensing: </a:t>
            </a:r>
            <a:r>
              <a:rPr>
                <a:solidFill>
                  <a:srgbClr val="334155"/>
                </a:solidFill>
              </a:rPr>
              <a:t>Explore consumer mobile NIR spectrometers to detect milk lactose and animal butterfat absorption bands non-destructively.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058400" cy="1097280"/>
          </a:xfrm>
          <a:prstGeom prst="rect">
            <a:avLst/>
          </a:prstGeom>
          <a:noFill/>
        </p:spPr>
        <p:txBody>
          <a:bodyPr wrap="square">
            <a:spAutoFit/>
          </a:bodyPr>
          <a:lstStyle/>
          <a:p>
            <a:pPr>
              <a:defRPr b="1" sz="1100">
                <a:solidFill>
                  <a:srgbClr val="10B981"/>
                </a:solidFill>
              </a:defRPr>
            </a:pPr>
            <a:r>
              <a:t>SECTION 11 · EXECUTIVE CONCLUSION &amp; Q&amp;A</a:t>
            </a:r>
          </a:p>
          <a:p>
            <a:pPr>
              <a:defRPr b="1" sz="2400">
                <a:solidFill>
                  <a:srgbClr val="FFFFFF"/>
                </a:solidFill>
              </a:defRPr>
            </a:pPr>
            <a:r>
              <a:t>Key Takeaways for Faculty Members &amp; Project Reviewers</a:t>
            </a:r>
          </a:p>
        </p:txBody>
      </p:sp>
      <p:sp>
        <p:nvSpPr>
          <p:cNvPr id="4" name="Rounded Rectangle 3"/>
          <p:cNvSpPr/>
          <p:nvPr/>
        </p:nvSpPr>
        <p:spPr>
          <a:xfrm>
            <a:off x="1097280" y="1737360"/>
            <a:ext cx="3154680" cy="411480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920240"/>
            <a:ext cx="2788920" cy="3749040"/>
          </a:xfrm>
          <a:prstGeom prst="rect">
            <a:avLst/>
          </a:prstGeom>
          <a:noFill/>
        </p:spPr>
        <p:txBody>
          <a:bodyPr wrap="square">
            <a:spAutoFit/>
          </a:bodyPr>
          <a:lstStyle/>
          <a:p>
            <a:pPr>
              <a:defRPr b="1" sz="1300">
                <a:solidFill>
                  <a:srgbClr val="10B981"/>
                </a:solidFill>
              </a:defRPr>
            </a:pPr>
            <a:r>
              <a:t>1. SCIENTIFIC VALIDATION</a:t>
            </a:r>
          </a:p>
          <a:p>
            <a:pPr>
              <a:spcBef>
                <a:spcPts val="800"/>
              </a:spcBef>
              <a:defRPr sz="1000">
                <a:solidFill>
                  <a:srgbClr val="E2E8F0"/>
                </a:solidFill>
              </a:defRPr>
            </a:pPr>
            <a:r>
              <a:t>• Strict meat exclusion validated that fine-grained dietary classification cannot rely on coarse meat features.</a:t>
            </a:r>
            <a:br/>
            <a:r>
              <a:t>• YOLOv8-Seg polygon cropping eliminated background distractions and specular reflection artifacts, lifting restaurant test accuracy to 95.83%.</a:t>
            </a:r>
          </a:p>
        </p:txBody>
      </p:sp>
      <p:sp>
        <p:nvSpPr>
          <p:cNvPr id="6" name="Rounded Rectangle 5"/>
          <p:cNvSpPr/>
          <p:nvPr/>
        </p:nvSpPr>
        <p:spPr>
          <a:xfrm>
            <a:off x="4434840" y="1737360"/>
            <a:ext cx="3154680" cy="4114800"/>
          </a:xfrm>
          <a:prstGeom prst="roundRect">
            <a:avLst/>
          </a:prstGeom>
          <a:solidFill>
            <a:srgbClr val="1E293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920240"/>
            <a:ext cx="2788920" cy="3749040"/>
          </a:xfrm>
          <a:prstGeom prst="rect">
            <a:avLst/>
          </a:prstGeom>
          <a:noFill/>
        </p:spPr>
        <p:txBody>
          <a:bodyPr wrap="square">
            <a:spAutoFit/>
          </a:bodyPr>
          <a:lstStyle/>
          <a:p>
            <a:pPr>
              <a:defRPr b="1" sz="1300">
                <a:solidFill>
                  <a:srgbClr val="D97706"/>
                </a:solidFill>
              </a:defRPr>
            </a:pPr>
            <a:r>
              <a:t>2. REALISTIC CEILINGS</a:t>
            </a:r>
          </a:p>
          <a:p>
            <a:pPr>
              <a:spcBef>
                <a:spcPts val="800"/>
              </a:spcBef>
              <a:defRPr sz="1000">
                <a:solidFill>
                  <a:srgbClr val="E2E8F0"/>
                </a:solidFill>
              </a:defRPr>
            </a:pPr>
            <a:r>
              <a:t>• 100% accuracy is a mathematical and physical impossibility for RGB food models due to closed pastry enclosures and dissolved animal ingredients.</a:t>
            </a:r>
            <a:br/>
            <a:r>
              <a:t>• Our 85.58% held-out test accuracy and 95.83% restaurant score represent a highly competitive benchmark for real-world deployment.</a:t>
            </a:r>
          </a:p>
        </p:txBody>
      </p:sp>
      <p:sp>
        <p:nvSpPr>
          <p:cNvPr id="8" name="Rounded Rectangle 7"/>
          <p:cNvSpPr/>
          <p:nvPr/>
        </p:nvSpPr>
        <p:spPr>
          <a:xfrm>
            <a:off x="7772400" y="1737360"/>
            <a:ext cx="3154680" cy="411480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1920240"/>
            <a:ext cx="2788920" cy="3749040"/>
          </a:xfrm>
          <a:prstGeom prst="rect">
            <a:avLst/>
          </a:prstGeom>
          <a:noFill/>
        </p:spPr>
        <p:txBody>
          <a:bodyPr wrap="square">
            <a:spAutoFit/>
          </a:bodyPr>
          <a:lstStyle/>
          <a:p>
            <a:pPr>
              <a:defRPr b="1" sz="1300">
                <a:solidFill>
                  <a:srgbClr val="38BDF8"/>
                </a:solidFill>
              </a:defRPr>
            </a:pPr>
            <a:r>
              <a:t>3. READY FOR DEPLOYMENT</a:t>
            </a:r>
          </a:p>
          <a:p>
            <a:pPr>
              <a:spcBef>
                <a:spcPts val="800"/>
              </a:spcBef>
              <a:defRPr sz="1000">
                <a:solidFill>
                  <a:srgbClr val="E2E8F0"/>
                </a:solidFill>
              </a:defRPr>
            </a:pPr>
            <a:r>
              <a:t>• Packaged with modular scripts, PyTorch weights, and automated evaluation pipelines.</a:t>
            </a:r>
            <a:br/>
            <a:r>
              <a:t>• Open-source ready, reproducible across macOS MPS, CUDA, and CPU environments.</a:t>
            </a:r>
            <a:br/>
            <a:br/>
            <a:r>
              <a:t>Thank you — Questions &amp; Discussion.</a:t>
            </a:r>
          </a:p>
        </p:txBody>
      </p:sp>
      <p:sp>
        <p:nvSpPr>
          <p:cNvPr id="10" name="TextBox 9"/>
          <p:cNvSpPr txBox="1"/>
          <p:nvPr/>
        </p:nvSpPr>
        <p:spPr>
          <a:xfrm>
            <a:off x="1097280" y="6217920"/>
            <a:ext cx="10058400" cy="274320"/>
          </a:xfrm>
          <a:prstGeom prst="rect">
            <a:avLst/>
          </a:prstGeom>
          <a:noFill/>
        </p:spPr>
        <p:txBody>
          <a:bodyPr wrap="none">
            <a:spAutoFit/>
          </a:bodyPr>
          <a:lstStyle/>
          <a:p>
            <a:pPr>
              <a:defRPr sz="900">
                <a:solidFill>
                  <a:srgbClr val="64748B"/>
                </a:solidFill>
                <a:latin typeface="Segoe UI"/>
              </a:defRPr>
            </a:pPr>
            <a:r>
              <a:t>DishDetect SA Research Team  ·  Project Review &amp; Benchmark Presentation  ·  Slide 15 of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